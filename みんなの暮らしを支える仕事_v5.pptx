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人口</c:v>
                </c:pt>
              </c:strCache>
            </c:strRef>
          </c:tx>
          <c:spPr>
            <a:solidFill>
              <a:srgbClr val="2E9E5B"/>
            </a:solidFill>
            <a:effectLst/>
          </c:spPr>
          <c:invertIfNegative val="0"/>
          <c:dLbls>
            <c:numFmt formatCode="#,##0人" sourceLinked="0"/>
            <c:txPr>
              <a:bodyPr/>
              <a:lstStyle/>
              <a:p>
                <a:pPr>
                  <a:defRPr b="0" i="0" strike="noStrike" sz="1600" u="none">
                    <a:solidFill>
                      <a:srgbClr val="2B2B2B"/>
                    </a:solidFill>
                    <a:latin typeface="Meiryo"/>
                  </a:defRPr>
                </a:pPr>
              </a:p>
            </c:txPr>
            <c:showLegendKey val="0"/>
            <c:showVal val="1"/>
            <c:showCatName val="0"/>
            <c:showSerName val="0"/>
            <c:showPercent val="0"/>
            <c:showBubbleSize val="0"/>
            <c:showLeaderLines val="0"/>
          </c:dLbls>
          <c:dPt>
            <c:idx val="0"/>
            <c:invertIfNegative val="0"/>
            <c:bubble3D val="0"/>
            <c:spPr>
              <a:solidFill>
                <a:srgbClr val="2E9E5B"/>
              </a:solidFill>
              <a:effectLst/>
            </c:spPr>
          </c:dPt>
          <c:dPt>
            <c:idx val="1"/>
            <c:invertIfNegative val="0"/>
            <c:bubble3D val="0"/>
            <c:spPr>
              <a:solidFill>
                <a:srgbClr val="2E9E5B"/>
              </a:solidFill>
              <a:effectLst/>
            </c:spPr>
          </c:dPt>
          <c:dPt>
            <c:idx val="2"/>
            <c:invertIfNegative val="0"/>
            <c:bubble3D val="0"/>
            <c:spPr>
              <a:solidFill>
                <a:srgbClr val="2E9E5B"/>
              </a:solidFill>
              <a:effectLst/>
            </c:spPr>
          </c:dPt>
          <c:dPt>
            <c:idx val="3"/>
            <c:invertIfNegative val="0"/>
            <c:bubble3D val="0"/>
            <c:spPr>
              <a:solidFill>
                <a:srgbClr val="BBBBBB"/>
              </a:solidFill>
              <a:effectLst/>
            </c:spPr>
          </c:dPt>
          <c:cat>
            <c:multiLvlStrRef>
              <c:f>Sheet1!$A$2:$A$5</c:f>
              <c:multiLvlStrCache>
                <c:ptCount val="4"/>
                <c:lvl>
                  <c:pt idx="0">
                    <c:v>2016年</c:v>
                  </c:pt>
                  <c:pt idx="1">
                    <c:v>2020年</c:v>
                  </c:pt>
                  <c:pt idx="2">
                    <c:v>2026年</c:v>
                  </c:pt>
                  <c:pt idx="3">
                    <c:v>2050年（予想）</c:v>
                  </c:pt>
                </c:lvl>
              </c:multiLvlStrCache>
            </c:multiLvlStrRef>
          </c:cat>
          <c:val>
            <c:numRef>
              <c:f>Sheet1!$B$2:$B$5</c:f>
              <c:numCache>
                <c:formatCode>General</c:formatCode>
                <c:ptCount val="4"/>
                <c:pt idx="0">
                  <c:v>20000</c:v>
                </c:pt>
                <c:pt idx="1">
                  <c:v>17858</c:v>
                </c:pt>
                <c:pt idx="2">
                  <c:v>15988</c:v>
                </c:pt>
                <c:pt idx="3">
                  <c:v>8000</c:v>
                </c:pt>
              </c:numCache>
            </c:numRef>
          </c:val>
        </c:ser>
        <c:dLbls>
          <c:numFmt formatCode="#,##0人" sourceLinked="0"/>
          <c:txPr>
            <a:bodyPr/>
            <a:lstStyle/>
            <a:p>
              <a:pPr>
                <a:defRPr b="0" i="0" strike="noStrike" sz="1600" u="none">
                  <a:solidFill>
                    <a:srgbClr val="2B2B2B"/>
                  </a:solidFill>
                  <a:latin typeface="Meiryo"/>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2B2B2B"/>
                </a:solidFill>
                <a:latin typeface="Meiryo"/>
              </a:defRPr>
            </a:pPr>
            <a:endParaRPr lang="en-US"/>
          </a:p>
        </c:txPr>
        <c:crossAx val="2094734552"/>
        <c:crosses val="autoZero"/>
        <c:auto val="1"/>
        <c:lblAlgn val="ctr"/>
        <c:noMultiLvlLbl val="1"/>
      </c:catAx>
      <c:valAx>
        <c:axId val="2094734552"/>
        <c:scaling>
          <c:orientation val="minMax"/>
          <c:max val="240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【説明】（約2分）
・あいさつ、自己紹介（名前、どんな仕事をしているか一言）。
・「今日は、みんなが毎日出している"ごみ"の向こう側で、どんな人がどんな仕事をしているのかを一緒に見ていきます。」
・「ごみの話だけでなく、"まちにはどんな仕事があるのか"を知ってもらう授業です。」
【問いかけ】
・「士別衛生公社って、聞いたことがある人はいますか？」（手を挙げてもらう）
【想定される回答】
・「知らない」「ごみの車を見たことがある」「知ってる！」など。
【つなぎ】
・「まずは、みんなが出しているごみのことから考えてみましょう。」→ 次のスライドへ。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【説明】（約3分）
・「家でも学校でも、毎日いろいろなごみが出ています。」
・写真を見せながら、台所のごみ、お菓子のふくろ、ペットボトルやかん、学校の紙くずなどを紹介する。
【問いかけ】
・「昨日、どんなごみを出しましたか？ 思い出して教えてください。」（数名指名）
【想定される回答】
・「お菓子のふくろ」「ジュースのペットボトル」「給食の牛乳パック」「鉛筆の削りかす」など。
【つなぎ】
・「みんなが出したごみ、ごみ箱に入れたあとはどうなると思いますか？」→ 次のスライドへ。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【説明】（約3分）
・「ごみは、家や学校から出されたあと、①集められて、②処理されて、③資源になったり、最後の場所（最終処分場）に運ばれたりします。」
・矢印を順番に指しながら、流れをゆっくり説明する。
・「紙やかんは、新しいものに生まれ変わることもあります。」
【問いかけ】
・「ごみ収集の車（パッカー車）を見たことがある人？」
・「ごみがどこに運ばれているか、知っている人はいますか？」
【想定される回答】
・「見たことある！」「燃やす場所」「知らない」など。
【つなぎ】
・「では、この"集める"仕事をしているのは、誰でしょう？」→ 次のスライドへ。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【説明】（約2分）
・「ごみを集めているのは、私たち"士別衛生公社"という会社です。」
・「士別市にある会社で、まちのごみを集めて、暮らしを支えています。」
・写真を見せて、「この車、見たことありますか？」と身近さを伝える。
【問いかけ】
・「朝、登校するときにごみの車を見たことがある人？」
【想定される回答】
・「見た！」「家の前に来る」など。
【つなぎ】
・「士別衛生公社は、ごみを集めるだけの会社ではありません。どんなことをしているか見てみましょう。」→ 次のスライドへ。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【説明】（約3分）
・「士別衛生公社は、4つの大きな仕事をしています。」
　①家庭のごみを集める　②お店や会社のごみを集める
　③トイレなどの水をきれいにする（し尿・汚水の処理）　④かんやびん、紙などをリサイクルする
・「ごみを集めるだけでなく、水をきれいにしたり、資源を生まれ変わらせたりもしています。」
※事業内容は自社の実態に合わせて言い換えてください。
【問いかけ】
・「この中で、知らなかった仕事はありましたか？」
【想定される回答】
・「トイレの水も？」「リサイクルもしてるんだ」など。
【つなぎ】
・「実際にどんなふうに仕事をしているか、写真で見てみましょう。」→ 次のスライドへ。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【説明】（約3分）
・左右の写真と、真ん中の社員インタビュー動画（30〜60秒）を再生する。動画は「仕事でうれしいこと」「気をつけていること」を一言ずつ。
・「集めたごみをきちんと分けることで、まちの空気や川をきれいに保つことにつながります。」
・「雪の日も、暑い日も、決まった日にごみを集めに行きます。」
【問いかけ】
・「写真を見て、気づいたことはありますか？」（服装、車の形、作業の様子など）
【想定される回答】
・「大きい車」「みんな同じ服を着てる」「重そう」など。
【つなぎ】
・「では、もし、この仕事がなくなったら、どうなるでしょうか？」→ 次のスライドへ。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【説明】（約4分）
・「ちょっと想像してみてください。」と言って、3つの問いを順番に投げかける。
・児童の答えを受け止めながら、「そう、においがしたり、虫が来たり、道が通れなくなったりするかもしれませんね。」とまとめる。
・「大変な仕事」という言い方ではなく、「ふだんは気づかないけれど、なくなると困る仕事」であることを強調する。
【問いかけ】
・「ごみが集められなくなったら、どうなると思う？」
・「まちにごみがたまったら？」
・「学校や家では、どんなことが困る？」
【想定される回答】
・「くさい」「きたない」「病気になる」「学校がごみだらけ」「遊べない」など。
【つなぎ】
・「ごみをちゃんと集めるために、みんなにもお願いしていることがあります。それが"分別"です。クイズで確かめてみましょう！」→ 次のスライドへ。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【説明】（約6分）
・「これは何ごみでしょう？」と1つずつ出題し、手を挙げた児童に答えてもらう。
・実物（きれいに洗ったもの）を持参して見せると盛り上がる。
※答えは士別市の分別ルールに合わせて確認・修正してください。
【出題と答え（例）】
Q1 ペットボトル → 資源ごみ（ペットボトル）。キャップとラベルは外す。
Q2 ダンボール → 資源ごみ（紙類）。たたんでしばる。
Q3 食べのこし → 燃やせるごみ（生ごみ）。水をよく切る。
Q4 乾電池 → 燃やせないごみ／有害ごみ（決められた回収に出す）。
Q5 われたコップ → 燃やせないごみ。紙に包んで「キケン」と書く。
Q6 牛乳パック → 資源ごみ（紙パック）。洗って開いて乾かす。
【想定される回答】
・「燃えるごみ！」「リサイクル！」「わからない」など。まちがえても「おしい！」と受け止める。
【つなぎ】
・「みんな、よく知っていましたね。では、どうしてわざわざ分別するのでしょう？」→ 次のスライドへ。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【説明】（約3分）
・4つの理由を、身近な例で説明する。
　①安全：電池やスプレー缶が混ざると、収集車や施設で火事が起きることがある。
　②資源：かん・紙・ペットボトルは、新しいかんや紙や服に生まれ変わる。
　③減らす：分ければ、燃やしたりうめたりするごみが減る。
　④環境：まちの空気や川、海がきれいなまま保てる。
・「みんなが家で分別してくれることが、私たちの仕事を助けてくれています。」
【問いかけ】
・「ペットボトルは、何に生まれ変わると思う？」
【想定される回答】
・「新しいペットボトル」「服」「わからない」など。
【つなぎ】
・「ここまでは"ごみ"の話でした。実は、士別衛生公社には、ごみを集める以外の仕事もたくさんあります。」→ 次のスライドへ。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【説明】（約3分）
・「士別衛生公社の中には、ごみを集める人のほかにも、いろいろな仕事をする人がいます。」
・アイコンを順に指しながら紹介する。
　運転する／機械を動かす／車や設備を直す／現場をまとめる／お客様と話す／会社を運営する（お金の計算、電話、人の手配）／環境を守る
・「一つの会社の中でも、得意なことや役割がちがう人が集まって仕事をしています。」
【問いかけ】
・「この中で、やってみたいと思う仕事はありますか？」
【想定される回答】
・「運転！」「機械を直す」「お客さんと話すのは苦手」など。
【つなぎ】
・「では、会社の外に目を向けると、世の中にはどんな仕事があるでしょう？」→ 次のスライドへ。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【説明】（約3分）
・「世の中には、たくさんの種類の仕事があります。」と8つのグループを紹介する。
・ごみの仕事は「まちを守る仕事」「環境を守る仕事」「車に関わる仕事」など、いくつものグループにまたがっていることに軽くふれる。
・士別衛生公社だけを特別にせず、「どの仕事も、だれかの暮らしを支えている」と伝える。
・「消防署も病院も農家も、士別のまちの中にある仕事です」と、身近な場所を挙げる。
【問いかけ】
・「おうちの人は、どのグループの仕事をしていると思う？」
・「今日、初めて聞いた仕事はある？」
【想定される回答】
・「お父さんは農家」「お母さんは看護師」「わからない」など。
【つなぎ】
・「ところで、士別のまちには、今どのくらいの人が住んでいるか知っていますか？」→ 次のスライドへ。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【説明】（約3分）
・「これは、士別に住んでいる人の数です。」とグラフを見せる。
・「10年前は2万人いましたが、今は1万6千人。みんなが大人になるころには、8千人くらいになるかもしれないと言われています。」
・こわがらせるのではなく、「だからこそ、まちを支える人が大事」という前向きな流れにする。
※数字は士別市の住民基本台帳（2026年1月末 15,988人）、国勢調査（2020年 17,858人）、国立社会保障・人口問題研究所の推計（2050年 約8,000人）。最新の数字に更新してください。
【問いかけ】
・「人が少なくなると、どんなことが困ると思う？」
【想定される回答】
・「お店がなくなる」「学校がなくなる」「友だちが減る」「ごみを集める人もいなくなる」など。
【つなぎ】
・「そう。まちを支える仕事をする人が少なくなると、暮らしそのものが続けられなくなります。だから、みんなが将来、どこで、どんな仕事をするかは、まちにとっても大事なことなんです。」
・「では、みんなは仕事を選ぶとき、何を大切にしたいですか？」→ 次のスライドへ。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【説明】（約4分）
・「仕事を選ぶとき、人によって大切にしたいことはちがいます。」
・6つの例を読み上げる。「これ以外にもたくさんあります。」
・正解を示さず、児童自身に考えてもらう時間を取る（隣の人と30秒話してもらってもよい）。
【問いかけ】
・「みんなは、どれが一番近いですか？ 手を挙げてみてください。」（1つずつ聞く）
・「この中にないものがある人は？」
【想定される回答】
・「好きなことをしたい」「お金をたくさんもらいたい」「有名になりたい」など。どんな答えも否定せず受け止める。
【つなぎ】
・「大切にしたいことが見つかったら、次はそれに合う仕事を"知る"ことが大事です。」→ 次のスライドへ。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【説明】（約2分）
・「今日、みんなは"ごみの向こう側"の仕事を知りました。」
・「世の中には、まだ知らない仕事がたくさんあります。知っている仕事が増えると、選べる道も増えます。」
・「今日初めて知った仕事も、みんなが大きくなったときの選択肢の一つになるかもしれません。」
・「そして、その仕事は遠くの町だけでなく、士別のまちの中にもあります。」
※就職のお願いにならないよう、「知ることで選択肢が増える」という言い方にとどめる。
【問いかけ】
・「今日、初めて知ったことを一つ教えてください。」
【想定される回答】
・「ごみの車の中に人がいろいろいること」「トイレの水もきれいにしていること」など。
【つなぎ】
・「最後に、今日のまとめです。」→ 次のスライドへ。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【説明】（約3分）
・3つのメッセージを、児童と一緒に声に出して読む。
　①ごみは、出したら終わりではない
　②まちの暮らしを支える、いろいろな仕事がある
　③今日知った仕事も、将来の選択肢の一つになる
・「今日から、ごみを出すときに、その向こう側で働く人のことを少し思い出してくれたらうれしいです。」
・最後に「士別衛生公社は、これからも士別のまちを支えていきます。みんなも、士別のまちを一緒に支えていきましょう。」で締める。
【問いかけ】
・「何か質問がある人はいますか？」（時間があれば2〜3問受ける）
【想定される回答】
・「一日に何軒回るの？」「車は何台あるの？」「一番大変なことは？」など。
【終了】
・お礼を言って終了。時間配分の目安：導入5分／ごみの流れと会社紹介12分／クイズと分別8分／キャリア教育（人口の話を含む）15分／まとめ・質問5分＝45分。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app/game.html" TargetMode="External"/><Relationship Id="rId3" Type="http://schemas.openxmlformats.org/officeDocument/2006/relationships/hyperlink" Target="app/game.html" TargetMode="External"/><Relationship Id="rId1" Type="http://schemas.openxmlformats.org/officeDocument/2006/relationships/image" Target="../media/image-7-1.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7" Type="http://schemas.openxmlformats.org/officeDocument/2006/relationships/hyperlink" Target="app/quiz.html" TargetMode="External"/><Relationship Id="rId8" Type="http://schemas.openxmlformats.org/officeDocument/2006/relationships/hyperlink" Target="app/quiz.html" TargetMode="Externa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app/population.html" TargetMode="External"/><Relationship Id="rId3" Type="http://schemas.openxmlformats.org/officeDocument/2006/relationships/hyperlink" Target="app/population.html" TargetMode="External"/><Relationship Id="rId1" Type="http://schemas.openxmlformats.org/officeDocument/2006/relationships/chart" Target="/ppt/charts/chart1.xml"/><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app/vote.html" TargetMode="External"/><Relationship Id="rId2" Type="http://schemas.openxmlformats.org/officeDocument/2006/relationships/hyperlink" Target="app/vote.html" TargetMode="Externa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5E3A"/>
        </a:solidFill>
      </p:bgPr>
    </p:bg>
    <p:spTree>
      <p:nvGrpSpPr>
        <p:cNvPr id="1" name=""/>
        <p:cNvGrpSpPr/>
        <p:nvPr/>
      </p:nvGrpSpPr>
      <p:grpSpPr>
        <a:xfrm>
          <a:off x="0" y="0"/>
          <a:ext cx="0" cy="0"/>
          <a:chOff x="0" y="0"/>
          <a:chExt cx="0" cy="0"/>
        </a:xfrm>
      </p:grpSpPr>
      <p:sp>
        <p:nvSpPr>
          <p:cNvPr id="2" name="Shape 0"/>
          <p:cNvSpPr/>
          <p:nvPr/>
        </p:nvSpPr>
        <p:spPr>
          <a:xfrm>
            <a:off x="6309360" y="640080"/>
            <a:ext cx="5303520" cy="5577840"/>
          </a:xfrm>
          <a:prstGeom prst="roundRect">
            <a:avLst>
              <a:gd name="adj" fmla="val 3448"/>
            </a:avLst>
          </a:prstGeom>
          <a:solidFill>
            <a:srgbClr val="F3F6F4"/>
          </a:solidFill>
          <a:ln w="19050">
            <a:solidFill>
              <a:srgbClr val="B9C9BE"/>
            </a:solidFill>
            <a:prstDash val="dash"/>
          </a:ln>
        </p:spPr>
      </p:sp>
      <p:pic>
        <p:nvPicPr>
          <p:cNvPr id="3" name="Image 0" descr="preencoded.png">    </p:cNvPr>
          <p:cNvPicPr>
            <a:picLocks noChangeAspect="1"/>
          </p:cNvPicPr>
          <p:nvPr/>
        </p:nvPicPr>
        <p:blipFill>
          <a:blip r:embed="rId1"/>
          <a:stretch>
            <a:fillRect/>
          </a:stretch>
        </p:blipFill>
        <p:spPr>
          <a:xfrm>
            <a:off x="8218627" y="2549347"/>
            <a:ext cx="1484986" cy="1484986"/>
          </a:xfrm>
          <a:prstGeom prst="rect">
            <a:avLst/>
          </a:prstGeom>
        </p:spPr>
      </p:pic>
      <p:sp>
        <p:nvSpPr>
          <p:cNvPr id="4" name="Text 1"/>
          <p:cNvSpPr txBox="1"/>
          <p:nvPr/>
        </p:nvSpPr>
        <p:spPr>
          <a:xfrm>
            <a:off x="6446520" y="4125773"/>
            <a:ext cx="5029200" cy="457200"/>
          </a:xfrm>
          <a:prstGeom prst="rect">
            <a:avLst/>
          </a:prstGeom>
          <a:noFill/>
          <a:ln/>
        </p:spPr>
        <p:txBody>
          <a:bodyPr wrap="square" lIns="0" tIns="0" rIns="0" bIns="0" rtlCol="0" anchor="t"/>
          <a:lstStyle/>
          <a:p>
            <a:pPr algn="ctr" indent="0" marL="0">
              <a:buNone/>
            </a:pPr>
            <a:r>
              <a:rPr lang="en-US" sz="1200" dirty="0">
                <a:solidFill>
                  <a:srgbClr val="7F9587"/>
                </a:solidFill>
                <a:latin typeface="Meiryo" pitchFamily="34" charset="0"/>
                <a:ea typeface="Meiryo" pitchFamily="34" charset="-122"/>
                <a:cs typeface="Meiryo" pitchFamily="34" charset="-120"/>
              </a:rPr>
              <a:t>写真：士別衛生公社の車両・社員（実際の写真）</a:t>
            </a:r>
            <a:endParaRPr lang="en-US" sz="1200" dirty="0"/>
          </a:p>
        </p:txBody>
      </p:sp>
      <p:sp>
        <p:nvSpPr>
          <p:cNvPr id="5" name="Text 2"/>
          <p:cNvSpPr txBox="1"/>
          <p:nvPr/>
        </p:nvSpPr>
        <p:spPr>
          <a:xfrm>
            <a:off x="640080" y="1188720"/>
            <a:ext cx="5486400" cy="2377440"/>
          </a:xfrm>
          <a:prstGeom prst="rect">
            <a:avLst/>
          </a:prstGeom>
          <a:noFill/>
          <a:ln/>
        </p:spPr>
        <p:txBody>
          <a:bodyPr wrap="square" lIns="0" tIns="0" rIns="0" bIns="0" rtlCol="0" anchor="ctr"/>
          <a:lstStyle/>
          <a:p>
            <a:pPr indent="0" marL="0">
              <a:buNone/>
            </a:pPr>
            <a:r>
              <a:rPr lang="en-US" sz="4400" b="1" dirty="0">
                <a:solidFill>
                  <a:srgbClr val="FFFFFF"/>
                </a:solidFill>
                <a:latin typeface="Meiryo" pitchFamily="34" charset="0"/>
                <a:ea typeface="Meiryo" pitchFamily="34" charset="-122"/>
                <a:cs typeface="Meiryo" pitchFamily="34" charset="-120"/>
              </a:rPr>
              <a:t>みんなの暮らしを</a:t>
            </a:r>
            <a:endParaRPr lang="en-US" sz="4400" dirty="0"/>
          </a:p>
          <a:p>
            <a:pPr indent="0" marL="0">
              <a:buNone/>
            </a:pPr>
            <a:r>
              <a:rPr lang="en-US" sz="4400" b="1" dirty="0">
                <a:solidFill>
                  <a:srgbClr val="FFFFFF"/>
                </a:solidFill>
                <a:latin typeface="Meiryo" pitchFamily="34" charset="0"/>
                <a:ea typeface="Meiryo" pitchFamily="34" charset="-122"/>
                <a:cs typeface="Meiryo" pitchFamily="34" charset="-120"/>
              </a:rPr>
              <a:t>支える仕事</a:t>
            </a:r>
            <a:endParaRPr lang="en-US" sz="4400" dirty="0"/>
          </a:p>
        </p:txBody>
      </p:sp>
      <p:sp>
        <p:nvSpPr>
          <p:cNvPr id="6" name="Text 3"/>
          <p:cNvSpPr txBox="1"/>
          <p:nvPr/>
        </p:nvSpPr>
        <p:spPr>
          <a:xfrm>
            <a:off x="640080" y="3657600"/>
            <a:ext cx="5486400" cy="731520"/>
          </a:xfrm>
          <a:prstGeom prst="rect">
            <a:avLst/>
          </a:prstGeom>
          <a:noFill/>
          <a:ln/>
        </p:spPr>
        <p:txBody>
          <a:bodyPr wrap="square" lIns="0" tIns="0" rIns="0" bIns="0" rtlCol="0" anchor="ctr"/>
          <a:lstStyle/>
          <a:p>
            <a:pPr indent="0" marL="0">
              <a:buNone/>
            </a:pPr>
            <a:r>
              <a:rPr lang="en-US" sz="2600" b="1" dirty="0">
                <a:solidFill>
                  <a:srgbClr val="FFC933"/>
                </a:solidFill>
                <a:latin typeface="Meiryo" pitchFamily="34" charset="0"/>
                <a:ea typeface="Meiryo" pitchFamily="34" charset="-122"/>
                <a:cs typeface="Meiryo" pitchFamily="34" charset="-120"/>
              </a:rPr>
              <a:t>～ごみの向こう側を知ろう～</a:t>
            </a:r>
            <a:endParaRPr lang="en-US" sz="2600" dirty="0"/>
          </a:p>
        </p:txBody>
      </p:sp>
      <p:sp>
        <p:nvSpPr>
          <p:cNvPr id="7" name="Text 4"/>
          <p:cNvSpPr txBox="1"/>
          <p:nvPr/>
        </p:nvSpPr>
        <p:spPr>
          <a:xfrm>
            <a:off x="640080" y="5394960"/>
            <a:ext cx="5486400" cy="457200"/>
          </a:xfrm>
          <a:prstGeom prst="rect">
            <a:avLst/>
          </a:prstGeom>
          <a:noFill/>
          <a:ln/>
        </p:spPr>
        <p:txBody>
          <a:bodyPr wrap="square" lIns="0" tIns="0" rIns="0" bIns="0" rtlCol="0" anchor="ctr"/>
          <a:lstStyle/>
          <a:p>
            <a:pPr indent="0" marL="0">
              <a:buNone/>
            </a:pPr>
            <a:r>
              <a:rPr lang="en-US" sz="1800" dirty="0">
                <a:solidFill>
                  <a:srgbClr val="CFE8D8"/>
                </a:solidFill>
                <a:latin typeface="Meiryo" pitchFamily="34" charset="0"/>
                <a:ea typeface="Meiryo" pitchFamily="34" charset="-122"/>
                <a:cs typeface="Meiryo" pitchFamily="34" charset="-120"/>
              </a:rPr>
              <a:t>株式会社 士別衛生公社</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914400"/>
          </a:xfrm>
          <a:prstGeom prst="rect">
            <a:avLst/>
          </a:prstGeom>
          <a:noFill/>
          <a:ln/>
        </p:spPr>
        <p:txBody>
          <a:bodyPr wrap="square" lIns="0" tIns="0" rIns="0" bIns="0" rtlCol="0" anchor="ctr"/>
          <a:lstStyle/>
          <a:p>
            <a:pPr algn="l" indent="0" marL="0">
              <a:buNone/>
            </a:pPr>
            <a:r>
              <a:rPr lang="en-US" sz="3600" b="1" dirty="0">
                <a:solidFill>
                  <a:srgbClr val="1B5E3A"/>
                </a:solidFill>
                <a:latin typeface="Meiryo" pitchFamily="34" charset="0"/>
                <a:ea typeface="Meiryo" pitchFamily="34" charset="-122"/>
                <a:cs typeface="Meiryo" pitchFamily="34" charset="-120"/>
              </a:rPr>
              <a:t>毎日、どんなごみを出していますか？</a:t>
            </a:r>
            <a:endParaRPr lang="en-US" sz="3600" dirty="0"/>
          </a:p>
        </p:txBody>
      </p:sp>
      <p:sp>
        <p:nvSpPr>
          <p:cNvPr id="3" name="Shape 1"/>
          <p:cNvSpPr/>
          <p:nvPr/>
        </p:nvSpPr>
        <p:spPr>
          <a:xfrm>
            <a:off x="548640" y="1463040"/>
            <a:ext cx="2606040" cy="2651760"/>
          </a:xfrm>
          <a:prstGeom prst="roundRect">
            <a:avLst>
              <a:gd name="adj" fmla="val 7018"/>
            </a:avLst>
          </a:prstGeom>
          <a:solidFill>
            <a:srgbClr val="F3F6F4"/>
          </a:solidFill>
          <a:ln w="19050">
            <a:solidFill>
              <a:srgbClr val="B9C9BE"/>
            </a:solidFill>
            <a:prstDash val="dash"/>
          </a:ln>
        </p:spPr>
      </p:sp>
      <p:pic>
        <p:nvPicPr>
          <p:cNvPr id="4" name="Image 0" descr="preencoded.png">    </p:cNvPr>
          <p:cNvPicPr>
            <a:picLocks noChangeAspect="1"/>
          </p:cNvPicPr>
          <p:nvPr/>
        </p:nvPicPr>
        <p:blipFill>
          <a:blip r:embed="rId1"/>
          <a:stretch>
            <a:fillRect/>
          </a:stretch>
        </p:blipFill>
        <p:spPr>
          <a:xfrm>
            <a:off x="1486814" y="2286914"/>
            <a:ext cx="729691" cy="729691"/>
          </a:xfrm>
          <a:prstGeom prst="rect">
            <a:avLst/>
          </a:prstGeom>
        </p:spPr>
      </p:pic>
      <p:sp>
        <p:nvSpPr>
          <p:cNvPr id="5" name="Text 2"/>
          <p:cNvSpPr txBox="1"/>
          <p:nvPr/>
        </p:nvSpPr>
        <p:spPr>
          <a:xfrm>
            <a:off x="685800" y="3108046"/>
            <a:ext cx="2331720" cy="457200"/>
          </a:xfrm>
          <a:prstGeom prst="rect">
            <a:avLst/>
          </a:prstGeom>
          <a:noFill/>
          <a:ln/>
        </p:spPr>
        <p:txBody>
          <a:bodyPr wrap="square" lIns="0" tIns="0" rIns="0" bIns="0" rtlCol="0" anchor="t"/>
          <a:lstStyle/>
          <a:p>
            <a:pPr algn="ctr" indent="0" marL="0">
              <a:buNone/>
            </a:pPr>
            <a:r>
              <a:rPr lang="en-US" sz="1200" dirty="0">
                <a:solidFill>
                  <a:srgbClr val="7F9587"/>
                </a:solidFill>
                <a:latin typeface="Meiryo" pitchFamily="34" charset="0"/>
                <a:ea typeface="Meiryo" pitchFamily="34" charset="-122"/>
                <a:cs typeface="Meiryo" pitchFamily="34" charset="-120"/>
              </a:rPr>
              <a:t>写真：家のごみ（台所）</a:t>
            </a:r>
            <a:endParaRPr lang="en-US" sz="1200" dirty="0"/>
          </a:p>
        </p:txBody>
      </p:sp>
      <p:sp>
        <p:nvSpPr>
          <p:cNvPr id="6" name="Text 3"/>
          <p:cNvSpPr txBox="1"/>
          <p:nvPr/>
        </p:nvSpPr>
        <p:spPr>
          <a:xfrm>
            <a:off x="548640" y="4206240"/>
            <a:ext cx="2606040" cy="457200"/>
          </a:xfrm>
          <a:prstGeom prst="rect">
            <a:avLst/>
          </a:prstGeom>
          <a:noFill/>
          <a:ln/>
        </p:spPr>
        <p:txBody>
          <a:bodyPr wrap="square" lIns="0" tIns="0" rIns="0" bIns="0" rtlCol="0" anchor="ctr"/>
          <a:lstStyle/>
          <a:p>
            <a:pPr algn="ctr" indent="0" marL="0">
              <a:buNone/>
            </a:pPr>
            <a:r>
              <a:rPr lang="en-US" sz="1800" b="1" dirty="0">
                <a:solidFill>
                  <a:srgbClr val="2B2B2B"/>
                </a:solidFill>
                <a:latin typeface="Meiryo" pitchFamily="34" charset="0"/>
                <a:ea typeface="Meiryo" pitchFamily="34" charset="-122"/>
                <a:cs typeface="Meiryo" pitchFamily="34" charset="-120"/>
              </a:rPr>
              <a:t>家のごみ（台所）</a:t>
            </a:r>
            <a:endParaRPr lang="en-US" sz="1800" dirty="0"/>
          </a:p>
        </p:txBody>
      </p:sp>
      <p:sp>
        <p:nvSpPr>
          <p:cNvPr id="7" name="Shape 4"/>
          <p:cNvSpPr/>
          <p:nvPr/>
        </p:nvSpPr>
        <p:spPr>
          <a:xfrm>
            <a:off x="3383280" y="1463040"/>
            <a:ext cx="2606040" cy="2651760"/>
          </a:xfrm>
          <a:prstGeom prst="roundRect">
            <a:avLst>
              <a:gd name="adj" fmla="val 7018"/>
            </a:avLst>
          </a:prstGeom>
          <a:solidFill>
            <a:srgbClr val="F3F6F4"/>
          </a:solidFill>
          <a:ln w="19050">
            <a:solidFill>
              <a:srgbClr val="B9C9BE"/>
            </a:solidFill>
            <a:prstDash val="dash"/>
          </a:ln>
        </p:spPr>
      </p:sp>
      <p:pic>
        <p:nvPicPr>
          <p:cNvPr id="8" name="Image 1" descr="preencoded.png">    </p:cNvPr>
          <p:cNvPicPr>
            <a:picLocks noChangeAspect="1"/>
          </p:cNvPicPr>
          <p:nvPr/>
        </p:nvPicPr>
        <p:blipFill>
          <a:blip r:embed="rId2"/>
          <a:stretch>
            <a:fillRect/>
          </a:stretch>
        </p:blipFill>
        <p:spPr>
          <a:xfrm>
            <a:off x="4321454" y="2286914"/>
            <a:ext cx="729691" cy="729691"/>
          </a:xfrm>
          <a:prstGeom prst="rect">
            <a:avLst/>
          </a:prstGeom>
        </p:spPr>
      </p:pic>
      <p:sp>
        <p:nvSpPr>
          <p:cNvPr id="9" name="Text 5"/>
          <p:cNvSpPr txBox="1"/>
          <p:nvPr/>
        </p:nvSpPr>
        <p:spPr>
          <a:xfrm>
            <a:off x="3520440" y="3108046"/>
            <a:ext cx="2331720" cy="457200"/>
          </a:xfrm>
          <a:prstGeom prst="rect">
            <a:avLst/>
          </a:prstGeom>
          <a:noFill/>
          <a:ln/>
        </p:spPr>
        <p:txBody>
          <a:bodyPr wrap="square" lIns="0" tIns="0" rIns="0" bIns="0" rtlCol="0" anchor="t"/>
          <a:lstStyle/>
          <a:p>
            <a:pPr algn="ctr" indent="0" marL="0">
              <a:buNone/>
            </a:pPr>
            <a:r>
              <a:rPr lang="en-US" sz="1200" dirty="0">
                <a:solidFill>
                  <a:srgbClr val="7F9587"/>
                </a:solidFill>
                <a:latin typeface="Meiryo" pitchFamily="34" charset="0"/>
                <a:ea typeface="Meiryo" pitchFamily="34" charset="-122"/>
                <a:cs typeface="Meiryo" pitchFamily="34" charset="-120"/>
              </a:rPr>
              <a:t>写真：お菓子のふくろ</a:t>
            </a:r>
            <a:endParaRPr lang="en-US" sz="1200" dirty="0"/>
          </a:p>
        </p:txBody>
      </p:sp>
      <p:sp>
        <p:nvSpPr>
          <p:cNvPr id="10" name="Text 6"/>
          <p:cNvSpPr txBox="1"/>
          <p:nvPr/>
        </p:nvSpPr>
        <p:spPr>
          <a:xfrm>
            <a:off x="3383280" y="4206240"/>
            <a:ext cx="2606040" cy="457200"/>
          </a:xfrm>
          <a:prstGeom prst="rect">
            <a:avLst/>
          </a:prstGeom>
          <a:noFill/>
          <a:ln/>
        </p:spPr>
        <p:txBody>
          <a:bodyPr wrap="square" lIns="0" tIns="0" rIns="0" bIns="0" rtlCol="0" anchor="ctr"/>
          <a:lstStyle/>
          <a:p>
            <a:pPr algn="ctr" indent="0" marL="0">
              <a:buNone/>
            </a:pPr>
            <a:r>
              <a:rPr lang="en-US" sz="1800" b="1" dirty="0">
                <a:solidFill>
                  <a:srgbClr val="2B2B2B"/>
                </a:solidFill>
                <a:latin typeface="Meiryo" pitchFamily="34" charset="0"/>
                <a:ea typeface="Meiryo" pitchFamily="34" charset="-122"/>
                <a:cs typeface="Meiryo" pitchFamily="34" charset="-120"/>
              </a:rPr>
              <a:t>お菓子のふくろ</a:t>
            </a:r>
            <a:endParaRPr lang="en-US" sz="1800" dirty="0"/>
          </a:p>
        </p:txBody>
      </p:sp>
      <p:sp>
        <p:nvSpPr>
          <p:cNvPr id="11" name="Shape 7"/>
          <p:cNvSpPr/>
          <p:nvPr/>
        </p:nvSpPr>
        <p:spPr>
          <a:xfrm>
            <a:off x="6217920" y="1463040"/>
            <a:ext cx="2606040" cy="2651760"/>
          </a:xfrm>
          <a:prstGeom prst="roundRect">
            <a:avLst>
              <a:gd name="adj" fmla="val 7018"/>
            </a:avLst>
          </a:prstGeom>
          <a:solidFill>
            <a:srgbClr val="F3F6F4"/>
          </a:solidFill>
          <a:ln w="19050">
            <a:solidFill>
              <a:srgbClr val="B9C9BE"/>
            </a:solidFill>
            <a:prstDash val="dash"/>
          </a:ln>
        </p:spPr>
      </p:sp>
      <p:pic>
        <p:nvPicPr>
          <p:cNvPr id="12" name="Image 2" descr="preencoded.png">    </p:cNvPr>
          <p:cNvPicPr>
            <a:picLocks noChangeAspect="1"/>
          </p:cNvPicPr>
          <p:nvPr/>
        </p:nvPicPr>
        <p:blipFill>
          <a:blip r:embed="rId3"/>
          <a:stretch>
            <a:fillRect/>
          </a:stretch>
        </p:blipFill>
        <p:spPr>
          <a:xfrm>
            <a:off x="7156094" y="2286914"/>
            <a:ext cx="729691" cy="729691"/>
          </a:xfrm>
          <a:prstGeom prst="rect">
            <a:avLst/>
          </a:prstGeom>
        </p:spPr>
      </p:pic>
      <p:sp>
        <p:nvSpPr>
          <p:cNvPr id="13" name="Text 8"/>
          <p:cNvSpPr txBox="1"/>
          <p:nvPr/>
        </p:nvSpPr>
        <p:spPr>
          <a:xfrm>
            <a:off x="6355080" y="3108046"/>
            <a:ext cx="2331720" cy="457200"/>
          </a:xfrm>
          <a:prstGeom prst="rect">
            <a:avLst/>
          </a:prstGeom>
          <a:noFill/>
          <a:ln/>
        </p:spPr>
        <p:txBody>
          <a:bodyPr wrap="square" lIns="0" tIns="0" rIns="0" bIns="0" rtlCol="0" anchor="t"/>
          <a:lstStyle/>
          <a:p>
            <a:pPr algn="ctr" indent="0" marL="0">
              <a:buNone/>
            </a:pPr>
            <a:r>
              <a:rPr lang="en-US" sz="1200" dirty="0">
                <a:solidFill>
                  <a:srgbClr val="7F9587"/>
                </a:solidFill>
                <a:latin typeface="Meiryo" pitchFamily="34" charset="0"/>
                <a:ea typeface="Meiryo" pitchFamily="34" charset="-122"/>
                <a:cs typeface="Meiryo" pitchFamily="34" charset="-120"/>
              </a:rPr>
              <a:t>写真：ペットボトル・かん</a:t>
            </a:r>
            <a:endParaRPr lang="en-US" sz="1200" dirty="0"/>
          </a:p>
        </p:txBody>
      </p:sp>
      <p:sp>
        <p:nvSpPr>
          <p:cNvPr id="14" name="Text 9"/>
          <p:cNvSpPr txBox="1"/>
          <p:nvPr/>
        </p:nvSpPr>
        <p:spPr>
          <a:xfrm>
            <a:off x="6217920" y="4206240"/>
            <a:ext cx="2606040" cy="457200"/>
          </a:xfrm>
          <a:prstGeom prst="rect">
            <a:avLst/>
          </a:prstGeom>
          <a:noFill/>
          <a:ln/>
        </p:spPr>
        <p:txBody>
          <a:bodyPr wrap="square" lIns="0" tIns="0" rIns="0" bIns="0" rtlCol="0" anchor="ctr"/>
          <a:lstStyle/>
          <a:p>
            <a:pPr algn="ctr" indent="0" marL="0">
              <a:buNone/>
            </a:pPr>
            <a:r>
              <a:rPr lang="en-US" sz="1800" b="1" dirty="0">
                <a:solidFill>
                  <a:srgbClr val="2B2B2B"/>
                </a:solidFill>
                <a:latin typeface="Meiryo" pitchFamily="34" charset="0"/>
                <a:ea typeface="Meiryo" pitchFamily="34" charset="-122"/>
                <a:cs typeface="Meiryo" pitchFamily="34" charset="-120"/>
              </a:rPr>
              <a:t>ペットボトル・かん</a:t>
            </a:r>
            <a:endParaRPr lang="en-US" sz="1800" dirty="0"/>
          </a:p>
        </p:txBody>
      </p:sp>
      <p:sp>
        <p:nvSpPr>
          <p:cNvPr id="15" name="Shape 10"/>
          <p:cNvSpPr/>
          <p:nvPr/>
        </p:nvSpPr>
        <p:spPr>
          <a:xfrm>
            <a:off x="9052560" y="1463040"/>
            <a:ext cx="2606040" cy="2651760"/>
          </a:xfrm>
          <a:prstGeom prst="roundRect">
            <a:avLst>
              <a:gd name="adj" fmla="val 7018"/>
            </a:avLst>
          </a:prstGeom>
          <a:solidFill>
            <a:srgbClr val="F3F6F4"/>
          </a:solidFill>
          <a:ln w="19050">
            <a:solidFill>
              <a:srgbClr val="B9C9BE"/>
            </a:solidFill>
            <a:prstDash val="dash"/>
          </a:ln>
        </p:spPr>
      </p:sp>
      <p:pic>
        <p:nvPicPr>
          <p:cNvPr id="16" name="Image 3" descr="preencoded.png">    </p:cNvPr>
          <p:cNvPicPr>
            <a:picLocks noChangeAspect="1"/>
          </p:cNvPicPr>
          <p:nvPr/>
        </p:nvPicPr>
        <p:blipFill>
          <a:blip r:embed="rId4"/>
          <a:stretch>
            <a:fillRect/>
          </a:stretch>
        </p:blipFill>
        <p:spPr>
          <a:xfrm>
            <a:off x="9990734" y="2286914"/>
            <a:ext cx="729691" cy="729691"/>
          </a:xfrm>
          <a:prstGeom prst="rect">
            <a:avLst/>
          </a:prstGeom>
        </p:spPr>
      </p:pic>
      <p:sp>
        <p:nvSpPr>
          <p:cNvPr id="17" name="Text 11"/>
          <p:cNvSpPr txBox="1"/>
          <p:nvPr/>
        </p:nvSpPr>
        <p:spPr>
          <a:xfrm>
            <a:off x="9189720" y="3108046"/>
            <a:ext cx="2331720" cy="457200"/>
          </a:xfrm>
          <a:prstGeom prst="rect">
            <a:avLst/>
          </a:prstGeom>
          <a:noFill/>
          <a:ln/>
        </p:spPr>
        <p:txBody>
          <a:bodyPr wrap="square" lIns="0" tIns="0" rIns="0" bIns="0" rtlCol="0" anchor="t"/>
          <a:lstStyle/>
          <a:p>
            <a:pPr algn="ctr" indent="0" marL="0">
              <a:buNone/>
            </a:pPr>
            <a:r>
              <a:rPr lang="en-US" sz="1200" dirty="0">
                <a:solidFill>
                  <a:srgbClr val="7F9587"/>
                </a:solidFill>
                <a:latin typeface="Meiryo" pitchFamily="34" charset="0"/>
                <a:ea typeface="Meiryo" pitchFamily="34" charset="-122"/>
                <a:cs typeface="Meiryo" pitchFamily="34" charset="-120"/>
              </a:rPr>
              <a:t>写真：学校のごみ</a:t>
            </a:r>
            <a:endParaRPr lang="en-US" sz="1200" dirty="0"/>
          </a:p>
        </p:txBody>
      </p:sp>
      <p:sp>
        <p:nvSpPr>
          <p:cNvPr id="18" name="Text 12"/>
          <p:cNvSpPr txBox="1"/>
          <p:nvPr/>
        </p:nvSpPr>
        <p:spPr>
          <a:xfrm>
            <a:off x="9052560" y="4206240"/>
            <a:ext cx="2606040" cy="457200"/>
          </a:xfrm>
          <a:prstGeom prst="rect">
            <a:avLst/>
          </a:prstGeom>
          <a:noFill/>
          <a:ln/>
        </p:spPr>
        <p:txBody>
          <a:bodyPr wrap="square" lIns="0" tIns="0" rIns="0" bIns="0" rtlCol="0" anchor="ctr"/>
          <a:lstStyle/>
          <a:p>
            <a:pPr algn="ctr" indent="0" marL="0">
              <a:buNone/>
            </a:pPr>
            <a:r>
              <a:rPr lang="en-US" sz="1800" b="1" dirty="0">
                <a:solidFill>
                  <a:srgbClr val="2B2B2B"/>
                </a:solidFill>
                <a:latin typeface="Meiryo" pitchFamily="34" charset="0"/>
                <a:ea typeface="Meiryo" pitchFamily="34" charset="-122"/>
                <a:cs typeface="Meiryo" pitchFamily="34" charset="-120"/>
              </a:rPr>
              <a:t>学校のごみ</a:t>
            </a:r>
            <a:endParaRPr lang="en-US" sz="1800" dirty="0"/>
          </a:p>
        </p:txBody>
      </p:sp>
      <p:sp>
        <p:nvSpPr>
          <p:cNvPr id="19" name="Shape 13"/>
          <p:cNvSpPr/>
          <p:nvPr/>
        </p:nvSpPr>
        <p:spPr>
          <a:xfrm>
            <a:off x="548640" y="5029200"/>
            <a:ext cx="11091672" cy="1097280"/>
          </a:xfrm>
          <a:prstGeom prst="roundRect">
            <a:avLst>
              <a:gd name="adj" fmla="val 20833"/>
            </a:avLst>
          </a:prstGeom>
          <a:solidFill>
            <a:srgbClr val="FFF6D6"/>
          </a:solidFill>
          <a:ln w="25400">
            <a:solidFill>
              <a:srgbClr val="FFC933"/>
            </a:solidFill>
            <a:prstDash val="solid"/>
          </a:ln>
        </p:spPr>
      </p:sp>
      <p:sp>
        <p:nvSpPr>
          <p:cNvPr id="20" name="Text 14"/>
          <p:cNvSpPr txBox="1"/>
          <p:nvPr/>
        </p:nvSpPr>
        <p:spPr>
          <a:xfrm>
            <a:off x="822960" y="5029200"/>
            <a:ext cx="10543032" cy="1097280"/>
          </a:xfrm>
          <a:prstGeom prst="rect">
            <a:avLst/>
          </a:prstGeom>
          <a:noFill/>
          <a:ln/>
        </p:spPr>
        <p:txBody>
          <a:bodyPr wrap="square" lIns="0" tIns="0" rIns="0" bIns="0" rtlCol="0" anchor="ctr"/>
          <a:lstStyle/>
          <a:p>
            <a:pPr algn="l" indent="0" marL="0">
              <a:buNone/>
            </a:pPr>
            <a:r>
              <a:rPr lang="en-US" sz="3200" b="1" dirty="0">
                <a:solidFill>
                  <a:srgbClr val="F28B30"/>
                </a:solidFill>
                <a:latin typeface="Meiryo" pitchFamily="34" charset="0"/>
                <a:ea typeface="Meiryo" pitchFamily="34" charset="-122"/>
                <a:cs typeface="Meiryo" pitchFamily="34" charset="-120"/>
              </a:rPr>
              <a:t>？ </a:t>
            </a:r>
            <a:pPr algn="l" indent="0" marL="0">
              <a:buNone/>
            </a:pPr>
            <a:r>
              <a:rPr lang="en-US" sz="2800" b="1" dirty="0">
                <a:solidFill>
                  <a:srgbClr val="2B2B2B"/>
                </a:solidFill>
                <a:latin typeface="Meiryo" pitchFamily="34" charset="0"/>
                <a:ea typeface="Meiryo" pitchFamily="34" charset="-122"/>
                <a:cs typeface="Meiryo" pitchFamily="34" charset="-120"/>
              </a:rPr>
              <a:t>昨日、どんなごみを出しましたか？</a:t>
            </a:r>
            <a:endParaRPr lang="en-US" sz="2800" dirty="0"/>
          </a:p>
        </p:txBody>
      </p:sp>
      <p:sp>
        <p:nvSpPr>
          <p:cNvPr id="21" name="Text 15"/>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AAAAA"/>
                </a:solidFill>
                <a:latin typeface="Meiryo" pitchFamily="34" charset="0"/>
                <a:ea typeface="Meiryo" pitchFamily="34" charset="-122"/>
                <a:cs typeface="Meiryo"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914400"/>
          </a:xfrm>
          <a:prstGeom prst="rect">
            <a:avLst/>
          </a:prstGeom>
          <a:noFill/>
          <a:ln/>
        </p:spPr>
        <p:txBody>
          <a:bodyPr wrap="square" lIns="0" tIns="0" rIns="0" bIns="0" rtlCol="0" anchor="ctr"/>
          <a:lstStyle/>
          <a:p>
            <a:pPr algn="l" indent="0" marL="0">
              <a:buNone/>
            </a:pPr>
            <a:r>
              <a:rPr lang="en-US" sz="3600" b="1" dirty="0">
                <a:solidFill>
                  <a:srgbClr val="1B5E3A"/>
                </a:solidFill>
                <a:latin typeface="Meiryo" pitchFamily="34" charset="0"/>
                <a:ea typeface="Meiryo" pitchFamily="34" charset="-122"/>
                <a:cs typeface="Meiryo" pitchFamily="34" charset="-120"/>
              </a:rPr>
              <a:t>そのごみは、どこへ行く？</a:t>
            </a:r>
            <a:endParaRPr lang="en-US" sz="3600" dirty="0"/>
          </a:p>
        </p:txBody>
      </p:sp>
      <p:sp>
        <p:nvSpPr>
          <p:cNvPr id="3" name="Shape 1"/>
          <p:cNvSpPr/>
          <p:nvPr/>
        </p:nvSpPr>
        <p:spPr>
          <a:xfrm>
            <a:off x="548640" y="1554480"/>
            <a:ext cx="2468880" cy="2194560"/>
          </a:xfrm>
          <a:prstGeom prst="roundRect">
            <a:avLst>
              <a:gd name="adj" fmla="val 8333"/>
            </a:avLst>
          </a:prstGeom>
          <a:solidFill>
            <a:srgbClr val="F3F6F4"/>
          </a:solidFill>
          <a:ln w="19050">
            <a:solidFill>
              <a:srgbClr val="B9C9BE"/>
            </a:solidFill>
            <a:prstDash val="dash"/>
          </a:ln>
        </p:spPr>
      </p:sp>
      <p:pic>
        <p:nvPicPr>
          <p:cNvPr id="4" name="Image 0" descr="preencoded.png">    </p:cNvPr>
          <p:cNvPicPr>
            <a:picLocks noChangeAspect="1"/>
          </p:cNvPicPr>
          <p:nvPr/>
        </p:nvPicPr>
        <p:blipFill>
          <a:blip r:embed="rId1"/>
          <a:stretch>
            <a:fillRect/>
          </a:stretch>
        </p:blipFill>
        <p:spPr>
          <a:xfrm>
            <a:off x="1475842" y="2207362"/>
            <a:ext cx="614477" cy="614477"/>
          </a:xfrm>
          <a:prstGeom prst="rect">
            <a:avLst/>
          </a:prstGeom>
        </p:spPr>
      </p:pic>
      <p:sp>
        <p:nvSpPr>
          <p:cNvPr id="5" name="Text 2"/>
          <p:cNvSpPr txBox="1"/>
          <p:nvPr/>
        </p:nvSpPr>
        <p:spPr>
          <a:xfrm>
            <a:off x="685800" y="2913278"/>
            <a:ext cx="2194560" cy="457200"/>
          </a:xfrm>
          <a:prstGeom prst="rect">
            <a:avLst/>
          </a:prstGeom>
          <a:noFill/>
          <a:ln/>
        </p:spPr>
        <p:txBody>
          <a:bodyPr wrap="square" lIns="0" tIns="0" rIns="0" bIns="0" rtlCol="0" anchor="t"/>
          <a:lstStyle/>
          <a:p>
            <a:pPr algn="ctr" indent="0" marL="0">
              <a:buNone/>
            </a:pPr>
            <a:r>
              <a:rPr lang="en-US" sz="1200" dirty="0">
                <a:solidFill>
                  <a:srgbClr val="7F9587"/>
                </a:solidFill>
                <a:latin typeface="Meiryo" pitchFamily="34" charset="0"/>
                <a:ea typeface="Meiryo" pitchFamily="34" charset="-122"/>
                <a:cs typeface="Meiryo" pitchFamily="34" charset="-120"/>
              </a:rPr>
              <a:t>写真：家・学校</a:t>
            </a:r>
            <a:endParaRPr lang="en-US" sz="1200" dirty="0"/>
          </a:p>
        </p:txBody>
      </p:sp>
      <p:sp>
        <p:nvSpPr>
          <p:cNvPr id="6" name="Text 3"/>
          <p:cNvSpPr txBox="1"/>
          <p:nvPr/>
        </p:nvSpPr>
        <p:spPr>
          <a:xfrm>
            <a:off x="548640" y="4572000"/>
            <a:ext cx="2468880" cy="457200"/>
          </a:xfrm>
          <a:prstGeom prst="rect">
            <a:avLst/>
          </a:prstGeom>
          <a:noFill/>
          <a:ln/>
        </p:spPr>
        <p:txBody>
          <a:bodyPr wrap="square" lIns="0" tIns="0" rIns="0" bIns="0" rtlCol="0" anchor="ctr"/>
          <a:lstStyle/>
          <a:p>
            <a:pPr algn="ctr" indent="0" marL="0">
              <a:buNone/>
            </a:pPr>
            <a:r>
              <a:rPr lang="en-US" sz="2200" b="1" dirty="0">
                <a:solidFill>
                  <a:srgbClr val="2F80C3"/>
                </a:solidFill>
                <a:latin typeface="Meiryo" pitchFamily="34" charset="0"/>
                <a:ea typeface="Meiryo" pitchFamily="34" charset="-122"/>
                <a:cs typeface="Meiryo" pitchFamily="34" charset="-120"/>
              </a:rPr>
              <a:t>家・学校</a:t>
            </a:r>
            <a:endParaRPr lang="en-US" sz="2200" dirty="0"/>
          </a:p>
        </p:txBody>
      </p:sp>
      <p:sp>
        <p:nvSpPr>
          <p:cNvPr id="7" name="Text 4"/>
          <p:cNvSpPr txBox="1"/>
          <p:nvPr/>
        </p:nvSpPr>
        <p:spPr>
          <a:xfrm>
            <a:off x="548640" y="5029200"/>
            <a:ext cx="2468880" cy="365760"/>
          </a:xfrm>
          <a:prstGeom prst="rect">
            <a:avLst/>
          </a:prstGeom>
          <a:noFill/>
          <a:ln/>
        </p:spPr>
        <p:txBody>
          <a:bodyPr wrap="square" lIns="0" tIns="0" rIns="0" bIns="0" rtlCol="0" anchor="ctr"/>
          <a:lstStyle/>
          <a:p>
            <a:pPr algn="ctr" indent="0" marL="0">
              <a:buNone/>
            </a:pPr>
            <a:r>
              <a:rPr lang="en-US" sz="1400" dirty="0">
                <a:solidFill>
                  <a:srgbClr val="6B6B6B"/>
                </a:solidFill>
                <a:latin typeface="Meiryo" pitchFamily="34" charset="0"/>
                <a:ea typeface="Meiryo" pitchFamily="34" charset="-122"/>
                <a:cs typeface="Meiryo" pitchFamily="34" charset="-120"/>
              </a:rPr>
              <a:t>ごみを出す</a:t>
            </a:r>
            <a:endParaRPr lang="en-US" sz="1400" dirty="0"/>
          </a:p>
        </p:txBody>
      </p:sp>
      <p:sp>
        <p:nvSpPr>
          <p:cNvPr id="8" name="Shape 5"/>
          <p:cNvSpPr/>
          <p:nvPr/>
        </p:nvSpPr>
        <p:spPr>
          <a:xfrm>
            <a:off x="3063240" y="2423160"/>
            <a:ext cx="320040" cy="457200"/>
          </a:xfrm>
          <a:prstGeom prst="rightArrow">
            <a:avLst/>
          </a:prstGeom>
          <a:solidFill>
            <a:srgbClr val="CFCFCF"/>
          </a:solidFill>
          <a:ln w="12700">
            <a:solidFill>
              <a:srgbClr val="CFCFCF"/>
            </a:solidFill>
            <a:prstDash val="solid"/>
          </a:ln>
        </p:spPr>
      </p:sp>
      <p:sp>
        <p:nvSpPr>
          <p:cNvPr id="9" name="Shape 6"/>
          <p:cNvSpPr/>
          <p:nvPr/>
        </p:nvSpPr>
        <p:spPr>
          <a:xfrm>
            <a:off x="3429000" y="1554480"/>
            <a:ext cx="2468880" cy="2194560"/>
          </a:xfrm>
          <a:prstGeom prst="roundRect">
            <a:avLst>
              <a:gd name="adj" fmla="val 8333"/>
            </a:avLst>
          </a:prstGeom>
          <a:solidFill>
            <a:srgbClr val="F3F6F4"/>
          </a:solidFill>
          <a:ln w="19050">
            <a:solidFill>
              <a:srgbClr val="B9C9BE"/>
            </a:solidFill>
            <a:prstDash val="dash"/>
          </a:ln>
        </p:spPr>
      </p:sp>
      <p:pic>
        <p:nvPicPr>
          <p:cNvPr id="10" name="Image 1" descr="preencoded.png">    </p:cNvPr>
          <p:cNvPicPr>
            <a:picLocks noChangeAspect="1"/>
          </p:cNvPicPr>
          <p:nvPr/>
        </p:nvPicPr>
        <p:blipFill>
          <a:blip r:embed="rId2"/>
          <a:stretch>
            <a:fillRect/>
          </a:stretch>
        </p:blipFill>
        <p:spPr>
          <a:xfrm>
            <a:off x="4356202" y="2207362"/>
            <a:ext cx="614477" cy="614477"/>
          </a:xfrm>
          <a:prstGeom prst="rect">
            <a:avLst/>
          </a:prstGeom>
        </p:spPr>
      </p:pic>
      <p:sp>
        <p:nvSpPr>
          <p:cNvPr id="11" name="Text 7"/>
          <p:cNvSpPr txBox="1"/>
          <p:nvPr/>
        </p:nvSpPr>
        <p:spPr>
          <a:xfrm>
            <a:off x="3566160" y="2913278"/>
            <a:ext cx="2194560" cy="457200"/>
          </a:xfrm>
          <a:prstGeom prst="rect">
            <a:avLst/>
          </a:prstGeom>
          <a:noFill/>
          <a:ln/>
        </p:spPr>
        <p:txBody>
          <a:bodyPr wrap="square" lIns="0" tIns="0" rIns="0" bIns="0" rtlCol="0" anchor="t"/>
          <a:lstStyle/>
          <a:p>
            <a:pPr algn="ctr" indent="0" marL="0">
              <a:buNone/>
            </a:pPr>
            <a:r>
              <a:rPr lang="en-US" sz="1200" dirty="0">
                <a:solidFill>
                  <a:srgbClr val="7F9587"/>
                </a:solidFill>
                <a:latin typeface="Meiryo" pitchFamily="34" charset="0"/>
                <a:ea typeface="Meiryo" pitchFamily="34" charset="-122"/>
                <a:cs typeface="Meiryo" pitchFamily="34" charset="-120"/>
              </a:rPr>
              <a:t>写真：ごみ収集</a:t>
            </a:r>
            <a:endParaRPr lang="en-US" sz="1200" dirty="0"/>
          </a:p>
        </p:txBody>
      </p:sp>
      <p:sp>
        <p:nvSpPr>
          <p:cNvPr id="12" name="Text 8"/>
          <p:cNvSpPr txBox="1"/>
          <p:nvPr/>
        </p:nvSpPr>
        <p:spPr>
          <a:xfrm>
            <a:off x="3429000" y="4572000"/>
            <a:ext cx="2468880" cy="457200"/>
          </a:xfrm>
          <a:prstGeom prst="rect">
            <a:avLst/>
          </a:prstGeom>
          <a:noFill/>
          <a:ln/>
        </p:spPr>
        <p:txBody>
          <a:bodyPr wrap="square" lIns="0" tIns="0" rIns="0" bIns="0" rtlCol="0" anchor="ctr"/>
          <a:lstStyle/>
          <a:p>
            <a:pPr algn="ctr" indent="0" marL="0">
              <a:buNone/>
            </a:pPr>
            <a:r>
              <a:rPr lang="en-US" sz="2200" b="1" dirty="0">
                <a:solidFill>
                  <a:srgbClr val="2E9E5B"/>
                </a:solidFill>
                <a:latin typeface="Meiryo" pitchFamily="34" charset="0"/>
                <a:ea typeface="Meiryo" pitchFamily="34" charset="-122"/>
                <a:cs typeface="Meiryo" pitchFamily="34" charset="-120"/>
              </a:rPr>
              <a:t>ごみ収集</a:t>
            </a:r>
            <a:endParaRPr lang="en-US" sz="2200" dirty="0"/>
          </a:p>
        </p:txBody>
      </p:sp>
      <p:sp>
        <p:nvSpPr>
          <p:cNvPr id="13" name="Text 9"/>
          <p:cNvSpPr txBox="1"/>
          <p:nvPr/>
        </p:nvSpPr>
        <p:spPr>
          <a:xfrm>
            <a:off x="3429000" y="5029200"/>
            <a:ext cx="2468880" cy="365760"/>
          </a:xfrm>
          <a:prstGeom prst="rect">
            <a:avLst/>
          </a:prstGeom>
          <a:noFill/>
          <a:ln/>
        </p:spPr>
        <p:txBody>
          <a:bodyPr wrap="square" lIns="0" tIns="0" rIns="0" bIns="0" rtlCol="0" anchor="ctr"/>
          <a:lstStyle/>
          <a:p>
            <a:pPr algn="ctr" indent="0" marL="0">
              <a:buNone/>
            </a:pPr>
            <a:r>
              <a:rPr lang="en-US" sz="1400" dirty="0">
                <a:solidFill>
                  <a:srgbClr val="6B6B6B"/>
                </a:solidFill>
                <a:latin typeface="Meiryo" pitchFamily="34" charset="0"/>
                <a:ea typeface="Meiryo" pitchFamily="34" charset="-122"/>
                <a:cs typeface="Meiryo" pitchFamily="34" charset="-120"/>
              </a:rPr>
              <a:t>パッカー車が集める</a:t>
            </a:r>
            <a:endParaRPr lang="en-US" sz="1400" dirty="0"/>
          </a:p>
        </p:txBody>
      </p:sp>
      <p:sp>
        <p:nvSpPr>
          <p:cNvPr id="14" name="Shape 10"/>
          <p:cNvSpPr/>
          <p:nvPr/>
        </p:nvSpPr>
        <p:spPr>
          <a:xfrm>
            <a:off x="5943600" y="2423160"/>
            <a:ext cx="320040" cy="457200"/>
          </a:xfrm>
          <a:prstGeom prst="rightArrow">
            <a:avLst/>
          </a:prstGeom>
          <a:solidFill>
            <a:srgbClr val="CFCFCF"/>
          </a:solidFill>
          <a:ln w="12700">
            <a:solidFill>
              <a:srgbClr val="CFCFCF"/>
            </a:solidFill>
            <a:prstDash val="solid"/>
          </a:ln>
        </p:spPr>
      </p:sp>
      <p:sp>
        <p:nvSpPr>
          <p:cNvPr id="15" name="Shape 11"/>
          <p:cNvSpPr/>
          <p:nvPr/>
        </p:nvSpPr>
        <p:spPr>
          <a:xfrm>
            <a:off x="6309360" y="1554480"/>
            <a:ext cx="2468880" cy="2194560"/>
          </a:xfrm>
          <a:prstGeom prst="roundRect">
            <a:avLst>
              <a:gd name="adj" fmla="val 8333"/>
            </a:avLst>
          </a:prstGeom>
          <a:solidFill>
            <a:srgbClr val="F3F6F4"/>
          </a:solidFill>
          <a:ln w="19050">
            <a:solidFill>
              <a:srgbClr val="B9C9BE"/>
            </a:solidFill>
            <a:prstDash val="dash"/>
          </a:ln>
        </p:spPr>
      </p:sp>
      <p:pic>
        <p:nvPicPr>
          <p:cNvPr id="16" name="Image 2" descr="preencoded.png">    </p:cNvPr>
          <p:cNvPicPr>
            <a:picLocks noChangeAspect="1"/>
          </p:cNvPicPr>
          <p:nvPr/>
        </p:nvPicPr>
        <p:blipFill>
          <a:blip r:embed="rId3"/>
          <a:stretch>
            <a:fillRect/>
          </a:stretch>
        </p:blipFill>
        <p:spPr>
          <a:xfrm>
            <a:off x="7236562" y="2207362"/>
            <a:ext cx="614477" cy="614477"/>
          </a:xfrm>
          <a:prstGeom prst="rect">
            <a:avLst/>
          </a:prstGeom>
        </p:spPr>
      </p:pic>
      <p:sp>
        <p:nvSpPr>
          <p:cNvPr id="17" name="Text 12"/>
          <p:cNvSpPr txBox="1"/>
          <p:nvPr/>
        </p:nvSpPr>
        <p:spPr>
          <a:xfrm>
            <a:off x="6446520" y="2913278"/>
            <a:ext cx="2194560" cy="457200"/>
          </a:xfrm>
          <a:prstGeom prst="rect">
            <a:avLst/>
          </a:prstGeom>
          <a:noFill/>
          <a:ln/>
        </p:spPr>
        <p:txBody>
          <a:bodyPr wrap="square" lIns="0" tIns="0" rIns="0" bIns="0" rtlCol="0" anchor="t"/>
          <a:lstStyle/>
          <a:p>
            <a:pPr algn="ctr" indent="0" marL="0">
              <a:buNone/>
            </a:pPr>
            <a:r>
              <a:rPr lang="en-US" sz="1200" dirty="0">
                <a:solidFill>
                  <a:srgbClr val="7F9587"/>
                </a:solidFill>
                <a:latin typeface="Meiryo" pitchFamily="34" charset="0"/>
                <a:ea typeface="Meiryo" pitchFamily="34" charset="-122"/>
                <a:cs typeface="Meiryo" pitchFamily="34" charset="-120"/>
              </a:rPr>
              <a:t>写真：処理</a:t>
            </a:r>
            <a:endParaRPr lang="en-US" sz="1200" dirty="0"/>
          </a:p>
        </p:txBody>
      </p:sp>
      <p:sp>
        <p:nvSpPr>
          <p:cNvPr id="18" name="Text 13"/>
          <p:cNvSpPr txBox="1"/>
          <p:nvPr/>
        </p:nvSpPr>
        <p:spPr>
          <a:xfrm>
            <a:off x="6309360" y="4572000"/>
            <a:ext cx="2468880" cy="457200"/>
          </a:xfrm>
          <a:prstGeom prst="rect">
            <a:avLst/>
          </a:prstGeom>
          <a:noFill/>
          <a:ln/>
        </p:spPr>
        <p:txBody>
          <a:bodyPr wrap="square" lIns="0" tIns="0" rIns="0" bIns="0" rtlCol="0" anchor="ctr"/>
          <a:lstStyle/>
          <a:p>
            <a:pPr algn="ctr" indent="0" marL="0">
              <a:buNone/>
            </a:pPr>
            <a:r>
              <a:rPr lang="en-US" sz="2200" b="1" dirty="0">
                <a:solidFill>
                  <a:srgbClr val="F28B30"/>
                </a:solidFill>
                <a:latin typeface="Meiryo" pitchFamily="34" charset="0"/>
                <a:ea typeface="Meiryo" pitchFamily="34" charset="-122"/>
                <a:cs typeface="Meiryo" pitchFamily="34" charset="-120"/>
              </a:rPr>
              <a:t>処理</a:t>
            </a:r>
            <a:endParaRPr lang="en-US" sz="2200" dirty="0"/>
          </a:p>
        </p:txBody>
      </p:sp>
      <p:sp>
        <p:nvSpPr>
          <p:cNvPr id="19" name="Text 14"/>
          <p:cNvSpPr txBox="1"/>
          <p:nvPr/>
        </p:nvSpPr>
        <p:spPr>
          <a:xfrm>
            <a:off x="6309360" y="5029200"/>
            <a:ext cx="2468880" cy="365760"/>
          </a:xfrm>
          <a:prstGeom prst="rect">
            <a:avLst/>
          </a:prstGeom>
          <a:noFill/>
          <a:ln/>
        </p:spPr>
        <p:txBody>
          <a:bodyPr wrap="square" lIns="0" tIns="0" rIns="0" bIns="0" rtlCol="0" anchor="ctr"/>
          <a:lstStyle/>
          <a:p>
            <a:pPr algn="ctr" indent="0" marL="0">
              <a:buNone/>
            </a:pPr>
            <a:r>
              <a:rPr lang="en-US" sz="1400" dirty="0">
                <a:solidFill>
                  <a:srgbClr val="6B6B6B"/>
                </a:solidFill>
                <a:latin typeface="Meiryo" pitchFamily="34" charset="0"/>
                <a:ea typeface="Meiryo" pitchFamily="34" charset="-122"/>
                <a:cs typeface="Meiryo" pitchFamily="34" charset="-120"/>
              </a:rPr>
              <a:t>もやす・くだく・分ける</a:t>
            </a:r>
            <a:endParaRPr lang="en-US" sz="1400" dirty="0"/>
          </a:p>
        </p:txBody>
      </p:sp>
      <p:sp>
        <p:nvSpPr>
          <p:cNvPr id="20" name="Shape 15"/>
          <p:cNvSpPr/>
          <p:nvPr/>
        </p:nvSpPr>
        <p:spPr>
          <a:xfrm>
            <a:off x="8823960" y="2423160"/>
            <a:ext cx="320040" cy="457200"/>
          </a:xfrm>
          <a:prstGeom prst="rightArrow">
            <a:avLst/>
          </a:prstGeom>
          <a:solidFill>
            <a:srgbClr val="CFCFCF"/>
          </a:solidFill>
          <a:ln w="12700">
            <a:solidFill>
              <a:srgbClr val="CFCFCF"/>
            </a:solidFill>
            <a:prstDash val="solid"/>
          </a:ln>
        </p:spPr>
      </p:sp>
      <p:sp>
        <p:nvSpPr>
          <p:cNvPr id="21" name="Shape 16"/>
          <p:cNvSpPr/>
          <p:nvPr/>
        </p:nvSpPr>
        <p:spPr>
          <a:xfrm>
            <a:off x="9189720" y="1554480"/>
            <a:ext cx="2468880" cy="2194560"/>
          </a:xfrm>
          <a:prstGeom prst="roundRect">
            <a:avLst>
              <a:gd name="adj" fmla="val 8333"/>
            </a:avLst>
          </a:prstGeom>
          <a:solidFill>
            <a:srgbClr val="F3F6F4"/>
          </a:solidFill>
          <a:ln w="19050">
            <a:solidFill>
              <a:srgbClr val="B9C9BE"/>
            </a:solidFill>
            <a:prstDash val="dash"/>
          </a:ln>
        </p:spPr>
      </p:sp>
      <p:pic>
        <p:nvPicPr>
          <p:cNvPr id="22" name="Image 3" descr="preencoded.png">    </p:cNvPr>
          <p:cNvPicPr>
            <a:picLocks noChangeAspect="1"/>
          </p:cNvPicPr>
          <p:nvPr/>
        </p:nvPicPr>
        <p:blipFill>
          <a:blip r:embed="rId4"/>
          <a:stretch>
            <a:fillRect/>
          </a:stretch>
        </p:blipFill>
        <p:spPr>
          <a:xfrm>
            <a:off x="10116922" y="2207362"/>
            <a:ext cx="614477" cy="614477"/>
          </a:xfrm>
          <a:prstGeom prst="rect">
            <a:avLst/>
          </a:prstGeom>
        </p:spPr>
      </p:pic>
      <p:sp>
        <p:nvSpPr>
          <p:cNvPr id="23" name="Text 17"/>
          <p:cNvSpPr txBox="1"/>
          <p:nvPr/>
        </p:nvSpPr>
        <p:spPr>
          <a:xfrm>
            <a:off x="9326880" y="2913278"/>
            <a:ext cx="2194560" cy="457200"/>
          </a:xfrm>
          <a:prstGeom prst="rect">
            <a:avLst/>
          </a:prstGeom>
          <a:noFill/>
          <a:ln/>
        </p:spPr>
        <p:txBody>
          <a:bodyPr wrap="square" lIns="0" tIns="0" rIns="0" bIns="0" rtlCol="0" anchor="t"/>
          <a:lstStyle/>
          <a:p>
            <a:pPr algn="ctr" indent="0" marL="0">
              <a:buNone/>
            </a:pPr>
            <a:r>
              <a:rPr lang="en-US" sz="1200" dirty="0">
                <a:solidFill>
                  <a:srgbClr val="7F9587"/>
                </a:solidFill>
                <a:latin typeface="Meiryo" pitchFamily="34" charset="0"/>
                <a:ea typeface="Meiryo" pitchFamily="34" charset="-122"/>
                <a:cs typeface="Meiryo" pitchFamily="34" charset="-120"/>
              </a:rPr>
              <a:t>写真：資源化・最終処分</a:t>
            </a:r>
            <a:endParaRPr lang="en-US" sz="1200" dirty="0"/>
          </a:p>
        </p:txBody>
      </p:sp>
      <p:sp>
        <p:nvSpPr>
          <p:cNvPr id="24" name="Text 18"/>
          <p:cNvSpPr txBox="1"/>
          <p:nvPr/>
        </p:nvSpPr>
        <p:spPr>
          <a:xfrm>
            <a:off x="9189720" y="4572000"/>
            <a:ext cx="2468880" cy="457200"/>
          </a:xfrm>
          <a:prstGeom prst="rect">
            <a:avLst/>
          </a:prstGeom>
          <a:noFill/>
          <a:ln/>
        </p:spPr>
        <p:txBody>
          <a:bodyPr wrap="square" lIns="0" tIns="0" rIns="0" bIns="0" rtlCol="0" anchor="ctr"/>
          <a:lstStyle/>
          <a:p>
            <a:pPr algn="ctr" indent="0" marL="0">
              <a:buNone/>
            </a:pPr>
            <a:r>
              <a:rPr lang="en-US" sz="2200" b="1" dirty="0">
                <a:solidFill>
                  <a:srgbClr val="7B5EA7"/>
                </a:solidFill>
                <a:latin typeface="Meiryo" pitchFamily="34" charset="0"/>
                <a:ea typeface="Meiryo" pitchFamily="34" charset="-122"/>
                <a:cs typeface="Meiryo" pitchFamily="34" charset="-120"/>
              </a:rPr>
              <a:t>資源化・最終処分</a:t>
            </a:r>
            <a:endParaRPr lang="en-US" sz="2200" dirty="0"/>
          </a:p>
        </p:txBody>
      </p:sp>
      <p:sp>
        <p:nvSpPr>
          <p:cNvPr id="25" name="Text 19"/>
          <p:cNvSpPr txBox="1"/>
          <p:nvPr/>
        </p:nvSpPr>
        <p:spPr>
          <a:xfrm>
            <a:off x="9189720" y="5029200"/>
            <a:ext cx="2468880" cy="365760"/>
          </a:xfrm>
          <a:prstGeom prst="rect">
            <a:avLst/>
          </a:prstGeom>
          <a:noFill/>
          <a:ln/>
        </p:spPr>
        <p:txBody>
          <a:bodyPr wrap="square" lIns="0" tIns="0" rIns="0" bIns="0" rtlCol="0" anchor="ctr"/>
          <a:lstStyle/>
          <a:p>
            <a:pPr algn="ctr" indent="0" marL="0">
              <a:buNone/>
            </a:pPr>
            <a:r>
              <a:rPr lang="en-US" sz="1400" dirty="0">
                <a:solidFill>
                  <a:srgbClr val="6B6B6B"/>
                </a:solidFill>
                <a:latin typeface="Meiryo" pitchFamily="34" charset="0"/>
                <a:ea typeface="Meiryo" pitchFamily="34" charset="-122"/>
                <a:cs typeface="Meiryo" pitchFamily="34" charset="-120"/>
              </a:rPr>
              <a:t>新しいものに生まれ変わる</a:t>
            </a:r>
            <a:endParaRPr lang="en-US" sz="1400" dirty="0"/>
          </a:p>
        </p:txBody>
      </p:sp>
      <p:sp>
        <p:nvSpPr>
          <p:cNvPr id="26" name="Text 20"/>
          <p:cNvSpPr txBox="1"/>
          <p:nvPr/>
        </p:nvSpPr>
        <p:spPr>
          <a:xfrm>
            <a:off x="548640" y="5760720"/>
            <a:ext cx="11091672" cy="548640"/>
          </a:xfrm>
          <a:prstGeom prst="rect">
            <a:avLst/>
          </a:prstGeom>
          <a:noFill/>
          <a:ln/>
        </p:spPr>
        <p:txBody>
          <a:bodyPr wrap="square" lIns="0" tIns="0" rIns="0" bIns="0" rtlCol="0" anchor="ctr"/>
          <a:lstStyle/>
          <a:p>
            <a:pPr algn="ctr" indent="0" marL="0">
              <a:buNone/>
            </a:pPr>
            <a:r>
              <a:rPr lang="en-US" sz="2200" b="1" dirty="0">
                <a:solidFill>
                  <a:srgbClr val="1B5E3A"/>
                </a:solidFill>
                <a:latin typeface="Meiryo" pitchFamily="34" charset="0"/>
                <a:ea typeface="Meiryo" pitchFamily="34" charset="-122"/>
                <a:cs typeface="Meiryo" pitchFamily="34" charset="-120"/>
              </a:rPr>
              <a:t>ごみは、出したら「おしまい」ではありません。</a:t>
            </a:r>
            <a:endParaRPr lang="en-US" sz="2200" dirty="0"/>
          </a:p>
        </p:txBody>
      </p:sp>
      <p:sp>
        <p:nvSpPr>
          <p:cNvPr id="27" name="Text 21"/>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AAAAA"/>
                </a:solidFill>
                <a:latin typeface="Meiryo" pitchFamily="34" charset="0"/>
                <a:ea typeface="Meiryo" pitchFamily="34" charset="-122"/>
                <a:cs typeface="Meiryo"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914400"/>
          </a:xfrm>
          <a:prstGeom prst="rect">
            <a:avLst/>
          </a:prstGeom>
          <a:noFill/>
          <a:ln/>
        </p:spPr>
        <p:txBody>
          <a:bodyPr wrap="square" lIns="0" tIns="0" rIns="0" bIns="0" rtlCol="0" anchor="ctr"/>
          <a:lstStyle/>
          <a:p>
            <a:pPr algn="l" indent="0" marL="0">
              <a:buNone/>
            </a:pPr>
            <a:r>
              <a:rPr lang="en-US" sz="3600" b="1" dirty="0">
                <a:solidFill>
                  <a:srgbClr val="1B5E3A"/>
                </a:solidFill>
                <a:latin typeface="Meiryo" pitchFamily="34" charset="0"/>
                <a:ea typeface="Meiryo" pitchFamily="34" charset="-122"/>
                <a:cs typeface="Meiryo" pitchFamily="34" charset="-120"/>
              </a:rPr>
              <a:t>ごみを集めているのは誰？</a:t>
            </a:r>
            <a:endParaRPr lang="en-US" sz="3600" dirty="0"/>
          </a:p>
        </p:txBody>
      </p:sp>
      <p:sp>
        <p:nvSpPr>
          <p:cNvPr id="3" name="Shape 1"/>
          <p:cNvSpPr/>
          <p:nvPr/>
        </p:nvSpPr>
        <p:spPr>
          <a:xfrm>
            <a:off x="548640" y="1463040"/>
            <a:ext cx="5760720" cy="4572000"/>
          </a:xfrm>
          <a:prstGeom prst="roundRect">
            <a:avLst>
              <a:gd name="adj" fmla="val 4000"/>
            </a:avLst>
          </a:prstGeom>
          <a:solidFill>
            <a:srgbClr val="F3F6F4"/>
          </a:solidFill>
          <a:ln w="19050">
            <a:solidFill>
              <a:srgbClr val="B9C9BE"/>
            </a:solidFill>
            <a:prstDash val="dash"/>
          </a:ln>
        </p:spPr>
      </p:sp>
      <p:pic>
        <p:nvPicPr>
          <p:cNvPr id="4" name="Image 0" descr="preencoded.png">    </p:cNvPr>
          <p:cNvPicPr>
            <a:picLocks noChangeAspect="1"/>
          </p:cNvPicPr>
          <p:nvPr/>
        </p:nvPicPr>
        <p:blipFill>
          <a:blip r:embed="rId1"/>
          <a:stretch>
            <a:fillRect/>
          </a:stretch>
        </p:blipFill>
        <p:spPr>
          <a:xfrm>
            <a:off x="2788920" y="2971800"/>
            <a:ext cx="1280160" cy="1280160"/>
          </a:xfrm>
          <a:prstGeom prst="rect">
            <a:avLst/>
          </a:prstGeom>
        </p:spPr>
      </p:pic>
      <p:sp>
        <p:nvSpPr>
          <p:cNvPr id="5" name="Text 2"/>
          <p:cNvSpPr txBox="1"/>
          <p:nvPr/>
        </p:nvSpPr>
        <p:spPr>
          <a:xfrm>
            <a:off x="685800" y="4343400"/>
            <a:ext cx="5486400" cy="457200"/>
          </a:xfrm>
          <a:prstGeom prst="rect">
            <a:avLst/>
          </a:prstGeom>
          <a:noFill/>
          <a:ln/>
        </p:spPr>
        <p:txBody>
          <a:bodyPr wrap="square" lIns="0" tIns="0" rIns="0" bIns="0" rtlCol="0" anchor="t"/>
          <a:lstStyle/>
          <a:p>
            <a:pPr algn="ctr" indent="0" marL="0">
              <a:buNone/>
            </a:pPr>
            <a:r>
              <a:rPr lang="en-US" sz="1200" dirty="0">
                <a:solidFill>
                  <a:srgbClr val="7F9587"/>
                </a:solidFill>
                <a:latin typeface="Meiryo" pitchFamily="34" charset="0"/>
                <a:ea typeface="Meiryo" pitchFamily="34" charset="-122"/>
                <a:cs typeface="Meiryo" pitchFamily="34" charset="-120"/>
              </a:rPr>
              <a:t>写真：ごみ収集をしている社員とパッカー車</a:t>
            </a:r>
            <a:endParaRPr lang="en-US" sz="1200" dirty="0"/>
          </a:p>
        </p:txBody>
      </p:sp>
      <p:sp>
        <p:nvSpPr>
          <p:cNvPr id="6" name="Shape 3"/>
          <p:cNvSpPr/>
          <p:nvPr/>
        </p:nvSpPr>
        <p:spPr>
          <a:xfrm>
            <a:off x="6766560" y="1463040"/>
            <a:ext cx="4846320" cy="4572000"/>
          </a:xfrm>
          <a:prstGeom prst="roundRect">
            <a:avLst>
              <a:gd name="adj" fmla="val 5000"/>
            </a:avLst>
          </a:prstGeom>
          <a:solidFill>
            <a:srgbClr val="F1F7F3"/>
          </a:solidFill>
          <a:ln w="12700">
            <a:solidFill>
              <a:srgbClr val="F1F7F3"/>
            </a:solidFill>
            <a:prstDash val="solid"/>
          </a:ln>
        </p:spPr>
      </p:sp>
      <p:sp>
        <p:nvSpPr>
          <p:cNvPr id="7" name="Text 4"/>
          <p:cNvSpPr txBox="1"/>
          <p:nvPr/>
        </p:nvSpPr>
        <p:spPr>
          <a:xfrm>
            <a:off x="7223760" y="1783080"/>
            <a:ext cx="4206240" cy="914400"/>
          </a:xfrm>
          <a:prstGeom prst="rect">
            <a:avLst/>
          </a:prstGeom>
          <a:noFill/>
          <a:ln/>
        </p:spPr>
        <p:txBody>
          <a:bodyPr wrap="square" lIns="0" tIns="0" rIns="0" bIns="0" rtlCol="0" anchor="ctr"/>
          <a:lstStyle/>
          <a:p>
            <a:pPr indent="0" marL="0">
              <a:buNone/>
            </a:pPr>
            <a:r>
              <a:rPr lang="en-US" sz="2400" b="1" dirty="0">
                <a:solidFill>
                  <a:srgbClr val="1B5E3A"/>
                </a:solidFill>
                <a:latin typeface="Meiryo" pitchFamily="34" charset="0"/>
                <a:ea typeface="Meiryo" pitchFamily="34" charset="-122"/>
                <a:cs typeface="Meiryo" pitchFamily="34" charset="-120"/>
              </a:rPr>
              <a:t>株式会社</a:t>
            </a:r>
            <a:endParaRPr lang="en-US" sz="2400" dirty="0"/>
          </a:p>
          <a:p>
            <a:pPr indent="0" marL="0">
              <a:buNone/>
            </a:pPr>
            <a:r>
              <a:rPr lang="en-US" sz="2400" b="1" dirty="0">
                <a:solidFill>
                  <a:srgbClr val="1B5E3A"/>
                </a:solidFill>
                <a:latin typeface="Meiryo" pitchFamily="34" charset="0"/>
                <a:ea typeface="Meiryo" pitchFamily="34" charset="-122"/>
                <a:cs typeface="Meiryo" pitchFamily="34" charset="-120"/>
              </a:rPr>
              <a:t>士別衛生公社</a:t>
            </a:r>
            <a:endParaRPr lang="en-US" sz="2400" dirty="0"/>
          </a:p>
        </p:txBody>
      </p:sp>
      <p:sp>
        <p:nvSpPr>
          <p:cNvPr id="8" name="Text 5"/>
          <p:cNvSpPr txBox="1"/>
          <p:nvPr/>
        </p:nvSpPr>
        <p:spPr>
          <a:xfrm>
            <a:off x="7223760" y="3017520"/>
            <a:ext cx="4114800" cy="1188720"/>
          </a:xfrm>
          <a:prstGeom prst="rect">
            <a:avLst/>
          </a:prstGeom>
          <a:noFill/>
          <a:ln/>
        </p:spPr>
        <p:txBody>
          <a:bodyPr wrap="square" lIns="0" tIns="0" rIns="0" bIns="0" rtlCol="0" anchor="ctr"/>
          <a:lstStyle/>
          <a:p>
            <a:pPr indent="0" marL="0">
              <a:buNone/>
            </a:pPr>
            <a:r>
              <a:rPr lang="en-US" sz="2200" b="1" dirty="0">
                <a:solidFill>
                  <a:srgbClr val="2B2B2B"/>
                </a:solidFill>
                <a:latin typeface="Meiryo" pitchFamily="34" charset="0"/>
                <a:ea typeface="Meiryo" pitchFamily="34" charset="-122"/>
                <a:cs typeface="Meiryo" pitchFamily="34" charset="-120"/>
              </a:rPr>
              <a:t>士別のまちの暮らしを</a:t>
            </a:r>
            <a:endParaRPr lang="en-US" sz="2200" dirty="0"/>
          </a:p>
          <a:p>
            <a:pPr indent="0" marL="0">
              <a:buNone/>
            </a:pPr>
            <a:r>
              <a:rPr lang="en-US" sz="2200" b="1" dirty="0">
                <a:solidFill>
                  <a:srgbClr val="2B2B2B"/>
                </a:solidFill>
                <a:latin typeface="Meiryo" pitchFamily="34" charset="0"/>
                <a:ea typeface="Meiryo" pitchFamily="34" charset="-122"/>
                <a:cs typeface="Meiryo" pitchFamily="34" charset="-120"/>
              </a:rPr>
              <a:t>支えている会社です。</a:t>
            </a:r>
            <a:endParaRPr lang="en-US" sz="2200" dirty="0"/>
          </a:p>
        </p:txBody>
      </p:sp>
      <p:sp>
        <p:nvSpPr>
          <p:cNvPr id="9" name="Text 6"/>
          <p:cNvSpPr txBox="1"/>
          <p:nvPr/>
        </p:nvSpPr>
        <p:spPr>
          <a:xfrm>
            <a:off x="7223760" y="4389120"/>
            <a:ext cx="4114800" cy="1097280"/>
          </a:xfrm>
          <a:prstGeom prst="rect">
            <a:avLst/>
          </a:prstGeom>
          <a:noFill/>
          <a:ln/>
        </p:spPr>
        <p:txBody>
          <a:bodyPr wrap="square" lIns="0" tIns="0" rIns="0" bIns="0" rtlCol="0" anchor="ctr"/>
          <a:lstStyle/>
          <a:p>
            <a:pPr indent="0" marL="0">
              <a:buNone/>
            </a:pPr>
            <a:r>
              <a:rPr lang="en-US" sz="1600" dirty="0">
                <a:solidFill>
                  <a:srgbClr val="6B6B6B"/>
                </a:solidFill>
                <a:latin typeface="Meiryo" pitchFamily="34" charset="0"/>
                <a:ea typeface="Meiryo" pitchFamily="34" charset="-122"/>
                <a:cs typeface="Meiryo" pitchFamily="34" charset="-120"/>
              </a:rPr>
              <a:t>ごみ収集だけでなく、</a:t>
            </a:r>
            <a:endParaRPr lang="en-US" sz="1600" dirty="0"/>
          </a:p>
          <a:p>
            <a:pPr indent="0" marL="0">
              <a:buNone/>
            </a:pPr>
            <a:r>
              <a:rPr lang="en-US" sz="1600" dirty="0">
                <a:solidFill>
                  <a:srgbClr val="6B6B6B"/>
                </a:solidFill>
                <a:latin typeface="Meiryo" pitchFamily="34" charset="0"/>
                <a:ea typeface="Meiryo" pitchFamily="34" charset="-122"/>
                <a:cs typeface="Meiryo" pitchFamily="34" charset="-120"/>
              </a:rPr>
              <a:t>水をきれいにしたり、資源を生まれ変わらせたり、</a:t>
            </a:r>
            <a:endParaRPr lang="en-US" sz="1600" dirty="0"/>
          </a:p>
          <a:p>
            <a:pPr indent="0" marL="0">
              <a:buNone/>
            </a:pPr>
            <a:r>
              <a:rPr lang="en-US" sz="1600" dirty="0">
                <a:solidFill>
                  <a:srgbClr val="6B6B6B"/>
                </a:solidFill>
                <a:latin typeface="Meiryo" pitchFamily="34" charset="0"/>
                <a:ea typeface="Meiryo" pitchFamily="34" charset="-122"/>
                <a:cs typeface="Meiryo" pitchFamily="34" charset="-120"/>
              </a:rPr>
              <a:t>いろいろな仕事をしています。</a:t>
            </a:r>
            <a:endParaRPr lang="en-US" sz="1600" dirty="0"/>
          </a:p>
        </p:txBody>
      </p:sp>
      <p:sp>
        <p:nvSpPr>
          <p:cNvPr id="10" name="Text 7"/>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AAAAA"/>
                </a:solidFill>
                <a:latin typeface="Meiryo" pitchFamily="34" charset="0"/>
                <a:ea typeface="Meiryo" pitchFamily="34" charset="-122"/>
                <a:cs typeface="Meiryo"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914400"/>
          </a:xfrm>
          <a:prstGeom prst="rect">
            <a:avLst/>
          </a:prstGeom>
          <a:noFill/>
          <a:ln/>
        </p:spPr>
        <p:txBody>
          <a:bodyPr wrap="square" lIns="0" tIns="0" rIns="0" bIns="0" rtlCol="0" anchor="ctr"/>
          <a:lstStyle/>
          <a:p>
            <a:pPr algn="l" indent="0" marL="0">
              <a:buNone/>
            </a:pPr>
            <a:r>
              <a:rPr lang="en-US" sz="3600" b="1" dirty="0">
                <a:solidFill>
                  <a:srgbClr val="1B5E3A"/>
                </a:solidFill>
                <a:latin typeface="Meiryo" pitchFamily="34" charset="0"/>
                <a:ea typeface="Meiryo" pitchFamily="34" charset="-122"/>
                <a:cs typeface="Meiryo" pitchFamily="34" charset="-120"/>
              </a:rPr>
              <a:t>士別衛生公社は何をしている会社？</a:t>
            </a:r>
            <a:endParaRPr lang="en-US" sz="3600" dirty="0"/>
          </a:p>
        </p:txBody>
      </p:sp>
      <p:sp>
        <p:nvSpPr>
          <p:cNvPr id="3" name="Shape 1"/>
          <p:cNvSpPr/>
          <p:nvPr/>
        </p:nvSpPr>
        <p:spPr>
          <a:xfrm>
            <a:off x="548640" y="1463040"/>
            <a:ext cx="5394960" cy="2103120"/>
          </a:xfrm>
          <a:prstGeom prst="roundRect">
            <a:avLst>
              <a:gd name="adj" fmla="val 8696"/>
            </a:avLst>
          </a:prstGeom>
          <a:solidFill>
            <a:srgbClr val="F1F7F3"/>
          </a:solidFill>
          <a:ln w="12700">
            <a:solidFill>
              <a:srgbClr val="F1F7F3"/>
            </a:solidFill>
            <a:prstDash val="solid"/>
          </a:ln>
        </p:spPr>
      </p:sp>
      <p:sp>
        <p:nvSpPr>
          <p:cNvPr id="4" name="Text 2"/>
          <p:cNvSpPr txBox="1"/>
          <p:nvPr/>
        </p:nvSpPr>
        <p:spPr>
          <a:xfrm>
            <a:off x="914400" y="1737360"/>
            <a:ext cx="4663440" cy="731520"/>
          </a:xfrm>
          <a:prstGeom prst="rect">
            <a:avLst/>
          </a:prstGeom>
          <a:noFill/>
          <a:ln/>
        </p:spPr>
        <p:txBody>
          <a:bodyPr wrap="square" lIns="0" tIns="0" rIns="0" bIns="0" rtlCol="0" anchor="ctr"/>
          <a:lstStyle/>
          <a:p>
            <a:pPr indent="0" marL="0">
              <a:buNone/>
            </a:pPr>
            <a:r>
              <a:rPr lang="en-US" sz="2200" b="1" dirty="0">
                <a:solidFill>
                  <a:srgbClr val="2B2B2B"/>
                </a:solidFill>
                <a:latin typeface="Meiryo" pitchFamily="34" charset="0"/>
                <a:ea typeface="Meiryo" pitchFamily="34" charset="-122"/>
                <a:cs typeface="Meiryo" pitchFamily="34" charset="-120"/>
              </a:rPr>
              <a:t>家庭のごみを集める</a:t>
            </a:r>
            <a:endParaRPr lang="en-US" sz="2200" dirty="0"/>
          </a:p>
        </p:txBody>
      </p:sp>
      <p:sp>
        <p:nvSpPr>
          <p:cNvPr id="5" name="Text 3"/>
          <p:cNvSpPr txBox="1"/>
          <p:nvPr/>
        </p:nvSpPr>
        <p:spPr>
          <a:xfrm>
            <a:off x="914400" y="2514600"/>
            <a:ext cx="4663440" cy="822960"/>
          </a:xfrm>
          <a:prstGeom prst="rect">
            <a:avLst/>
          </a:prstGeom>
          <a:noFill/>
          <a:ln/>
        </p:spPr>
        <p:txBody>
          <a:bodyPr wrap="square" lIns="0" tIns="0" rIns="0" bIns="0" rtlCol="0" anchor="ctr"/>
          <a:lstStyle/>
          <a:p>
            <a:pPr indent="0" marL="0">
              <a:buNone/>
            </a:pPr>
            <a:r>
              <a:rPr lang="en-US" sz="1600" dirty="0">
                <a:solidFill>
                  <a:srgbClr val="6B6B6B"/>
                </a:solidFill>
                <a:latin typeface="Meiryo" pitchFamily="34" charset="0"/>
                <a:ea typeface="Meiryo" pitchFamily="34" charset="-122"/>
                <a:cs typeface="Meiryo" pitchFamily="34" charset="-120"/>
              </a:rPr>
              <a:t>まちの家から出たごみを、決まった日に集めます。</a:t>
            </a:r>
            <a:endParaRPr lang="en-US" sz="1600" dirty="0"/>
          </a:p>
        </p:txBody>
      </p:sp>
      <p:sp>
        <p:nvSpPr>
          <p:cNvPr id="6" name="Shape 4"/>
          <p:cNvSpPr/>
          <p:nvPr/>
        </p:nvSpPr>
        <p:spPr>
          <a:xfrm>
            <a:off x="6217920" y="1463040"/>
            <a:ext cx="5394960" cy="2103120"/>
          </a:xfrm>
          <a:prstGeom prst="roundRect">
            <a:avLst>
              <a:gd name="adj" fmla="val 8696"/>
            </a:avLst>
          </a:prstGeom>
          <a:solidFill>
            <a:srgbClr val="F1F7F3"/>
          </a:solidFill>
          <a:ln w="12700">
            <a:solidFill>
              <a:srgbClr val="F1F7F3"/>
            </a:solidFill>
            <a:prstDash val="solid"/>
          </a:ln>
        </p:spPr>
      </p:sp>
      <p:sp>
        <p:nvSpPr>
          <p:cNvPr id="7" name="Text 5"/>
          <p:cNvSpPr txBox="1"/>
          <p:nvPr/>
        </p:nvSpPr>
        <p:spPr>
          <a:xfrm>
            <a:off x="6583680" y="1737360"/>
            <a:ext cx="4663440" cy="731520"/>
          </a:xfrm>
          <a:prstGeom prst="rect">
            <a:avLst/>
          </a:prstGeom>
          <a:noFill/>
          <a:ln/>
        </p:spPr>
        <p:txBody>
          <a:bodyPr wrap="square" lIns="0" tIns="0" rIns="0" bIns="0" rtlCol="0" anchor="ctr"/>
          <a:lstStyle/>
          <a:p>
            <a:pPr indent="0" marL="0">
              <a:buNone/>
            </a:pPr>
            <a:r>
              <a:rPr lang="en-US" sz="2200" b="1" dirty="0">
                <a:solidFill>
                  <a:srgbClr val="2B2B2B"/>
                </a:solidFill>
                <a:latin typeface="Meiryo" pitchFamily="34" charset="0"/>
                <a:ea typeface="Meiryo" pitchFamily="34" charset="-122"/>
                <a:cs typeface="Meiryo" pitchFamily="34" charset="-120"/>
              </a:rPr>
              <a:t>お店・会社のごみを集める</a:t>
            </a:r>
            <a:endParaRPr lang="en-US" sz="2200" dirty="0"/>
          </a:p>
        </p:txBody>
      </p:sp>
      <p:sp>
        <p:nvSpPr>
          <p:cNvPr id="8" name="Text 6"/>
          <p:cNvSpPr txBox="1"/>
          <p:nvPr/>
        </p:nvSpPr>
        <p:spPr>
          <a:xfrm>
            <a:off x="6583680" y="2514600"/>
            <a:ext cx="4663440" cy="822960"/>
          </a:xfrm>
          <a:prstGeom prst="rect">
            <a:avLst/>
          </a:prstGeom>
          <a:noFill/>
          <a:ln/>
        </p:spPr>
        <p:txBody>
          <a:bodyPr wrap="square" lIns="0" tIns="0" rIns="0" bIns="0" rtlCol="0" anchor="ctr"/>
          <a:lstStyle/>
          <a:p>
            <a:pPr indent="0" marL="0">
              <a:buNone/>
            </a:pPr>
            <a:r>
              <a:rPr lang="en-US" sz="1600" dirty="0">
                <a:solidFill>
                  <a:srgbClr val="6B6B6B"/>
                </a:solidFill>
                <a:latin typeface="Meiryo" pitchFamily="34" charset="0"/>
                <a:ea typeface="Meiryo" pitchFamily="34" charset="-122"/>
                <a:cs typeface="Meiryo" pitchFamily="34" charset="-120"/>
              </a:rPr>
              <a:t>スーパーや会社から出るごみも集めます。</a:t>
            </a:r>
            <a:endParaRPr lang="en-US" sz="1600" dirty="0"/>
          </a:p>
        </p:txBody>
      </p:sp>
      <p:sp>
        <p:nvSpPr>
          <p:cNvPr id="9" name="Shape 7"/>
          <p:cNvSpPr/>
          <p:nvPr/>
        </p:nvSpPr>
        <p:spPr>
          <a:xfrm>
            <a:off x="548640" y="3794760"/>
            <a:ext cx="5394960" cy="2103120"/>
          </a:xfrm>
          <a:prstGeom prst="roundRect">
            <a:avLst>
              <a:gd name="adj" fmla="val 8696"/>
            </a:avLst>
          </a:prstGeom>
          <a:solidFill>
            <a:srgbClr val="F1F7F3"/>
          </a:solidFill>
          <a:ln w="12700">
            <a:solidFill>
              <a:srgbClr val="F1F7F3"/>
            </a:solidFill>
            <a:prstDash val="solid"/>
          </a:ln>
        </p:spPr>
      </p:sp>
      <p:sp>
        <p:nvSpPr>
          <p:cNvPr id="10" name="Text 8"/>
          <p:cNvSpPr txBox="1"/>
          <p:nvPr/>
        </p:nvSpPr>
        <p:spPr>
          <a:xfrm>
            <a:off x="914400" y="4069080"/>
            <a:ext cx="4663440" cy="731520"/>
          </a:xfrm>
          <a:prstGeom prst="rect">
            <a:avLst/>
          </a:prstGeom>
          <a:noFill/>
          <a:ln/>
        </p:spPr>
        <p:txBody>
          <a:bodyPr wrap="square" lIns="0" tIns="0" rIns="0" bIns="0" rtlCol="0" anchor="ctr"/>
          <a:lstStyle/>
          <a:p>
            <a:pPr indent="0" marL="0">
              <a:buNone/>
            </a:pPr>
            <a:r>
              <a:rPr lang="en-US" sz="2200" b="1" dirty="0">
                <a:solidFill>
                  <a:srgbClr val="2B2B2B"/>
                </a:solidFill>
                <a:latin typeface="Meiryo" pitchFamily="34" charset="0"/>
                <a:ea typeface="Meiryo" pitchFamily="34" charset="-122"/>
                <a:cs typeface="Meiryo" pitchFamily="34" charset="-120"/>
              </a:rPr>
              <a:t>トイレなどの水をきれいにする</a:t>
            </a:r>
            <a:endParaRPr lang="en-US" sz="2200" dirty="0"/>
          </a:p>
        </p:txBody>
      </p:sp>
      <p:sp>
        <p:nvSpPr>
          <p:cNvPr id="11" name="Text 9"/>
          <p:cNvSpPr txBox="1"/>
          <p:nvPr/>
        </p:nvSpPr>
        <p:spPr>
          <a:xfrm>
            <a:off x="914400" y="4846320"/>
            <a:ext cx="4663440" cy="822960"/>
          </a:xfrm>
          <a:prstGeom prst="rect">
            <a:avLst/>
          </a:prstGeom>
          <a:noFill/>
          <a:ln/>
        </p:spPr>
        <p:txBody>
          <a:bodyPr wrap="square" lIns="0" tIns="0" rIns="0" bIns="0" rtlCol="0" anchor="ctr"/>
          <a:lstStyle/>
          <a:p>
            <a:pPr indent="0" marL="0">
              <a:buNone/>
            </a:pPr>
            <a:r>
              <a:rPr lang="en-US" sz="1600" dirty="0">
                <a:solidFill>
                  <a:srgbClr val="6B6B6B"/>
                </a:solidFill>
                <a:latin typeface="Meiryo" pitchFamily="34" charset="0"/>
                <a:ea typeface="Meiryo" pitchFamily="34" charset="-122"/>
                <a:cs typeface="Meiryo" pitchFamily="34" charset="-120"/>
              </a:rPr>
              <a:t>し尿やよごれた水を運んで、きれいに処理します。</a:t>
            </a:r>
            <a:endParaRPr lang="en-US" sz="1600" dirty="0"/>
          </a:p>
        </p:txBody>
      </p:sp>
      <p:sp>
        <p:nvSpPr>
          <p:cNvPr id="12" name="Shape 10"/>
          <p:cNvSpPr/>
          <p:nvPr/>
        </p:nvSpPr>
        <p:spPr>
          <a:xfrm>
            <a:off x="6217920" y="3794760"/>
            <a:ext cx="5394960" cy="2103120"/>
          </a:xfrm>
          <a:prstGeom prst="roundRect">
            <a:avLst>
              <a:gd name="adj" fmla="val 8696"/>
            </a:avLst>
          </a:prstGeom>
          <a:solidFill>
            <a:srgbClr val="F1F7F3"/>
          </a:solidFill>
          <a:ln w="12700">
            <a:solidFill>
              <a:srgbClr val="F1F7F3"/>
            </a:solidFill>
            <a:prstDash val="solid"/>
          </a:ln>
        </p:spPr>
      </p:sp>
      <p:sp>
        <p:nvSpPr>
          <p:cNvPr id="13" name="Text 11"/>
          <p:cNvSpPr txBox="1"/>
          <p:nvPr/>
        </p:nvSpPr>
        <p:spPr>
          <a:xfrm>
            <a:off x="6583680" y="4069080"/>
            <a:ext cx="4663440" cy="731520"/>
          </a:xfrm>
          <a:prstGeom prst="rect">
            <a:avLst/>
          </a:prstGeom>
          <a:noFill/>
          <a:ln/>
        </p:spPr>
        <p:txBody>
          <a:bodyPr wrap="square" lIns="0" tIns="0" rIns="0" bIns="0" rtlCol="0" anchor="ctr"/>
          <a:lstStyle/>
          <a:p>
            <a:pPr indent="0" marL="0">
              <a:buNone/>
            </a:pPr>
            <a:r>
              <a:rPr lang="en-US" sz="2200" b="1" dirty="0">
                <a:solidFill>
                  <a:srgbClr val="2B2B2B"/>
                </a:solidFill>
                <a:latin typeface="Meiryo" pitchFamily="34" charset="0"/>
                <a:ea typeface="Meiryo" pitchFamily="34" charset="-122"/>
                <a:cs typeface="Meiryo" pitchFamily="34" charset="-120"/>
              </a:rPr>
              <a:t>資源をリサイクルする</a:t>
            </a:r>
            <a:endParaRPr lang="en-US" sz="2200" dirty="0"/>
          </a:p>
        </p:txBody>
      </p:sp>
      <p:sp>
        <p:nvSpPr>
          <p:cNvPr id="14" name="Text 12"/>
          <p:cNvSpPr txBox="1"/>
          <p:nvPr/>
        </p:nvSpPr>
        <p:spPr>
          <a:xfrm>
            <a:off x="6583680" y="4846320"/>
            <a:ext cx="4663440" cy="822960"/>
          </a:xfrm>
          <a:prstGeom prst="rect">
            <a:avLst/>
          </a:prstGeom>
          <a:noFill/>
          <a:ln/>
        </p:spPr>
        <p:txBody>
          <a:bodyPr wrap="square" lIns="0" tIns="0" rIns="0" bIns="0" rtlCol="0" anchor="ctr"/>
          <a:lstStyle/>
          <a:p>
            <a:pPr indent="0" marL="0">
              <a:buNone/>
            </a:pPr>
            <a:r>
              <a:rPr lang="en-US" sz="1600" dirty="0">
                <a:solidFill>
                  <a:srgbClr val="6B6B6B"/>
                </a:solidFill>
                <a:latin typeface="Meiryo" pitchFamily="34" charset="0"/>
                <a:ea typeface="Meiryo" pitchFamily="34" charset="-122"/>
                <a:cs typeface="Meiryo" pitchFamily="34" charset="-120"/>
              </a:rPr>
              <a:t>かん・びん・ペットボトル・紙などを分けて、資源にします。</a:t>
            </a:r>
            <a:endParaRPr lang="en-US" sz="1600" dirty="0"/>
          </a:p>
        </p:txBody>
      </p:sp>
      <p:sp>
        <p:nvSpPr>
          <p:cNvPr id="15" name="Text 13"/>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AAAAA"/>
                </a:solidFill>
                <a:latin typeface="Meiryo" pitchFamily="34" charset="0"/>
                <a:ea typeface="Meiryo" pitchFamily="34" charset="-122"/>
                <a:cs typeface="Meiryo"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914400"/>
          </a:xfrm>
          <a:prstGeom prst="rect">
            <a:avLst/>
          </a:prstGeom>
          <a:noFill/>
          <a:ln/>
        </p:spPr>
        <p:txBody>
          <a:bodyPr wrap="square" lIns="0" tIns="0" rIns="0" bIns="0" rtlCol="0" anchor="ctr"/>
          <a:lstStyle/>
          <a:p>
            <a:pPr algn="l" indent="0" marL="0">
              <a:buNone/>
            </a:pPr>
            <a:r>
              <a:rPr lang="en-US" sz="3600" b="1" dirty="0">
                <a:solidFill>
                  <a:srgbClr val="1B5E3A"/>
                </a:solidFill>
                <a:latin typeface="Meiryo" pitchFamily="34" charset="0"/>
                <a:ea typeface="Meiryo" pitchFamily="34" charset="-122"/>
                <a:cs typeface="Meiryo" pitchFamily="34" charset="-120"/>
              </a:rPr>
              <a:t>実は、こんな仕事をしています</a:t>
            </a:r>
            <a:endParaRPr lang="en-US" sz="3600" dirty="0"/>
          </a:p>
        </p:txBody>
      </p:sp>
      <p:sp>
        <p:nvSpPr>
          <p:cNvPr id="3" name="Shape 1"/>
          <p:cNvSpPr/>
          <p:nvPr/>
        </p:nvSpPr>
        <p:spPr>
          <a:xfrm>
            <a:off x="548640" y="1463040"/>
            <a:ext cx="3566160" cy="3291840"/>
          </a:xfrm>
          <a:prstGeom prst="roundRect">
            <a:avLst>
              <a:gd name="adj" fmla="val 5556"/>
            </a:avLst>
          </a:prstGeom>
          <a:solidFill>
            <a:srgbClr val="F3F6F4"/>
          </a:solidFill>
          <a:ln w="19050">
            <a:solidFill>
              <a:srgbClr val="B9C9BE"/>
            </a:solidFill>
            <a:prstDash val="dash"/>
          </a:ln>
        </p:spPr>
      </p:sp>
      <p:pic>
        <p:nvPicPr>
          <p:cNvPr id="4" name="Image 0" descr="preencoded.png">    </p:cNvPr>
          <p:cNvPicPr>
            <a:picLocks noChangeAspect="1"/>
          </p:cNvPicPr>
          <p:nvPr/>
        </p:nvPicPr>
        <p:blipFill>
          <a:blip r:embed="rId1"/>
          <a:stretch>
            <a:fillRect/>
          </a:stretch>
        </p:blipFill>
        <p:spPr>
          <a:xfrm>
            <a:off x="1870862" y="2510942"/>
            <a:ext cx="921715" cy="921715"/>
          </a:xfrm>
          <a:prstGeom prst="rect">
            <a:avLst/>
          </a:prstGeom>
        </p:spPr>
      </p:pic>
      <p:sp>
        <p:nvSpPr>
          <p:cNvPr id="5" name="Text 2"/>
          <p:cNvSpPr txBox="1"/>
          <p:nvPr/>
        </p:nvSpPr>
        <p:spPr>
          <a:xfrm>
            <a:off x="685800" y="3524098"/>
            <a:ext cx="3291840" cy="457200"/>
          </a:xfrm>
          <a:prstGeom prst="rect">
            <a:avLst/>
          </a:prstGeom>
          <a:noFill/>
          <a:ln/>
        </p:spPr>
        <p:txBody>
          <a:bodyPr wrap="square" lIns="0" tIns="0" rIns="0" bIns="0" rtlCol="0" anchor="t"/>
          <a:lstStyle/>
          <a:p>
            <a:pPr algn="ctr" indent="0" marL="0">
              <a:buNone/>
            </a:pPr>
            <a:r>
              <a:rPr lang="en-US" sz="1200" dirty="0">
                <a:solidFill>
                  <a:srgbClr val="7F9587"/>
                </a:solidFill>
                <a:latin typeface="Meiryo" pitchFamily="34" charset="0"/>
                <a:ea typeface="Meiryo" pitchFamily="34" charset="-122"/>
                <a:cs typeface="Meiryo" pitchFamily="34" charset="-120"/>
              </a:rPr>
              <a:t>写真：収集作業の様子</a:t>
            </a:r>
            <a:endParaRPr lang="en-US" sz="1200" dirty="0"/>
          </a:p>
        </p:txBody>
      </p:sp>
      <p:sp>
        <p:nvSpPr>
          <p:cNvPr id="6" name="Text 3"/>
          <p:cNvSpPr txBox="1"/>
          <p:nvPr/>
        </p:nvSpPr>
        <p:spPr>
          <a:xfrm>
            <a:off x="548640" y="4937760"/>
            <a:ext cx="3566160" cy="548640"/>
          </a:xfrm>
          <a:prstGeom prst="rect">
            <a:avLst/>
          </a:prstGeom>
          <a:noFill/>
          <a:ln/>
        </p:spPr>
        <p:txBody>
          <a:bodyPr wrap="square" lIns="0" tIns="0" rIns="0" bIns="0" rtlCol="0" anchor="ctr"/>
          <a:lstStyle/>
          <a:p>
            <a:pPr algn="ctr" indent="0" marL="0">
              <a:buNone/>
            </a:pPr>
            <a:r>
              <a:rPr lang="en-US" sz="2400" b="1" dirty="0">
                <a:solidFill>
                  <a:srgbClr val="2E9E5B"/>
                </a:solidFill>
                <a:latin typeface="Meiryo" pitchFamily="34" charset="0"/>
                <a:ea typeface="Meiryo" pitchFamily="34" charset="-122"/>
                <a:cs typeface="Meiryo" pitchFamily="34" charset="-120"/>
              </a:rPr>
              <a:t>ごみを集める</a:t>
            </a:r>
            <a:endParaRPr lang="en-US" sz="2400" dirty="0"/>
          </a:p>
        </p:txBody>
      </p:sp>
      <p:sp>
        <p:nvSpPr>
          <p:cNvPr id="7" name="Shape 4"/>
          <p:cNvSpPr/>
          <p:nvPr/>
        </p:nvSpPr>
        <p:spPr>
          <a:xfrm>
            <a:off x="4297680" y="1463040"/>
            <a:ext cx="3566160" cy="3291840"/>
          </a:xfrm>
          <a:prstGeom prst="roundRect">
            <a:avLst>
              <a:gd name="adj" fmla="val 5556"/>
            </a:avLst>
          </a:prstGeom>
          <a:solidFill>
            <a:srgbClr val="2B2B2B"/>
          </a:solidFill>
          <a:ln w="12700">
            <a:solidFill>
              <a:srgbClr val="2B2B2B"/>
            </a:solidFill>
            <a:prstDash val="solid"/>
          </a:ln>
        </p:spPr>
      </p:sp>
      <p:sp>
        <p:nvSpPr>
          <p:cNvPr id="8" name="Shape 5"/>
          <p:cNvSpPr/>
          <p:nvPr/>
        </p:nvSpPr>
        <p:spPr>
          <a:xfrm>
            <a:off x="5586984" y="2432304"/>
            <a:ext cx="987552" cy="987552"/>
          </a:xfrm>
          <a:prstGeom prst="ellipse">
            <a:avLst/>
          </a:prstGeom>
          <a:solidFill>
            <a:srgbClr val="FFFFFF"/>
          </a:solidFill>
          <a:ln w="12700">
            <a:solidFill>
              <a:srgbClr val="FFFFFF"/>
            </a:solidFill>
            <a:prstDash val="solid"/>
          </a:ln>
        </p:spPr>
      </p:sp>
      <p:sp>
        <p:nvSpPr>
          <p:cNvPr id="9" name="Shape 6"/>
          <p:cNvSpPr/>
          <p:nvPr/>
        </p:nvSpPr>
        <p:spPr>
          <a:xfrm rot="5400000">
            <a:off x="5922752" y="2708819"/>
            <a:ext cx="395021" cy="434523"/>
          </a:xfrm>
          <a:prstGeom prst="triangle">
            <a:avLst/>
          </a:prstGeom>
          <a:solidFill>
            <a:srgbClr val="2B2B2B"/>
          </a:solidFill>
          <a:ln w="12700">
            <a:solidFill>
              <a:srgbClr val="2B2B2B"/>
            </a:solidFill>
            <a:prstDash val="solid"/>
          </a:ln>
        </p:spPr>
      </p:sp>
      <p:sp>
        <p:nvSpPr>
          <p:cNvPr id="10" name="Text 7"/>
          <p:cNvSpPr txBox="1"/>
          <p:nvPr/>
        </p:nvSpPr>
        <p:spPr>
          <a:xfrm>
            <a:off x="4434840" y="3511296"/>
            <a:ext cx="3291840" cy="640080"/>
          </a:xfrm>
          <a:prstGeom prst="rect">
            <a:avLst/>
          </a:prstGeom>
          <a:noFill/>
          <a:ln/>
        </p:spPr>
        <p:txBody>
          <a:bodyPr wrap="square" lIns="0" tIns="0" rIns="0" bIns="0" rtlCol="0" anchor="ctr"/>
          <a:lstStyle/>
          <a:p>
            <a:pPr algn="ctr" indent="0" marL="0">
              <a:buNone/>
            </a:pPr>
            <a:r>
              <a:rPr lang="en-US" sz="1200" dirty="0">
                <a:solidFill>
                  <a:srgbClr val="CCCCCC"/>
                </a:solidFill>
                <a:latin typeface="Meiryo" pitchFamily="34" charset="0"/>
                <a:ea typeface="Meiryo" pitchFamily="34" charset="-122"/>
                <a:cs typeface="Meiryo" pitchFamily="34" charset="-120"/>
              </a:rPr>
              <a:t>動画：社員インタビュー（30〜60秒）</a:t>
            </a:r>
            <a:endParaRPr lang="en-US" sz="1200" dirty="0"/>
          </a:p>
          <a:p>
            <a:pPr algn="ctr" indent="0" marL="0">
              <a:buNone/>
            </a:pPr>
            <a:r>
              <a:rPr lang="en-US" sz="1200" dirty="0">
                <a:solidFill>
                  <a:srgbClr val="CCCCCC"/>
                </a:solidFill>
                <a:latin typeface="Meiryo" pitchFamily="34" charset="0"/>
                <a:ea typeface="Meiryo" pitchFamily="34" charset="-122"/>
                <a:cs typeface="Meiryo" pitchFamily="34" charset="-120"/>
              </a:rPr>
              <a:t>（挿入 → ビデオ で差し替え）</a:t>
            </a:r>
            <a:endParaRPr lang="en-US" sz="1200" dirty="0"/>
          </a:p>
        </p:txBody>
      </p:sp>
      <p:sp>
        <p:nvSpPr>
          <p:cNvPr id="11" name="Text 8"/>
          <p:cNvSpPr txBox="1"/>
          <p:nvPr/>
        </p:nvSpPr>
        <p:spPr>
          <a:xfrm>
            <a:off x="4297680" y="4937760"/>
            <a:ext cx="3566160" cy="548640"/>
          </a:xfrm>
          <a:prstGeom prst="rect">
            <a:avLst/>
          </a:prstGeom>
          <a:noFill/>
          <a:ln/>
        </p:spPr>
        <p:txBody>
          <a:bodyPr wrap="square" lIns="0" tIns="0" rIns="0" bIns="0" rtlCol="0" anchor="ctr"/>
          <a:lstStyle/>
          <a:p>
            <a:pPr algn="ctr" indent="0" marL="0">
              <a:buNone/>
            </a:pPr>
            <a:r>
              <a:rPr lang="en-US" sz="2400" b="1" dirty="0">
                <a:solidFill>
                  <a:srgbClr val="2F80C3"/>
                </a:solidFill>
                <a:latin typeface="Meiryo" pitchFamily="34" charset="0"/>
                <a:ea typeface="Meiryo" pitchFamily="34" charset="-122"/>
                <a:cs typeface="Meiryo" pitchFamily="34" charset="-120"/>
              </a:rPr>
              <a:t>社員に聞いてみよう</a:t>
            </a:r>
            <a:endParaRPr lang="en-US" sz="2400" dirty="0"/>
          </a:p>
        </p:txBody>
      </p:sp>
      <p:sp>
        <p:nvSpPr>
          <p:cNvPr id="12" name="Shape 9"/>
          <p:cNvSpPr/>
          <p:nvPr/>
        </p:nvSpPr>
        <p:spPr>
          <a:xfrm>
            <a:off x="8046720" y="1463040"/>
            <a:ext cx="3566160" cy="3291840"/>
          </a:xfrm>
          <a:prstGeom prst="roundRect">
            <a:avLst>
              <a:gd name="adj" fmla="val 5556"/>
            </a:avLst>
          </a:prstGeom>
          <a:solidFill>
            <a:srgbClr val="F3F6F4"/>
          </a:solidFill>
          <a:ln w="19050">
            <a:solidFill>
              <a:srgbClr val="B9C9BE"/>
            </a:solidFill>
            <a:prstDash val="dash"/>
          </a:ln>
        </p:spPr>
      </p:sp>
      <p:pic>
        <p:nvPicPr>
          <p:cNvPr id="13" name="Image 1" descr="preencoded.png">    </p:cNvPr>
          <p:cNvPicPr>
            <a:picLocks noChangeAspect="1"/>
          </p:cNvPicPr>
          <p:nvPr/>
        </p:nvPicPr>
        <p:blipFill>
          <a:blip r:embed="rId2"/>
          <a:stretch>
            <a:fillRect/>
          </a:stretch>
        </p:blipFill>
        <p:spPr>
          <a:xfrm>
            <a:off x="9368942" y="2510942"/>
            <a:ext cx="921715" cy="921715"/>
          </a:xfrm>
          <a:prstGeom prst="rect">
            <a:avLst/>
          </a:prstGeom>
        </p:spPr>
      </p:pic>
      <p:sp>
        <p:nvSpPr>
          <p:cNvPr id="14" name="Text 10"/>
          <p:cNvSpPr txBox="1"/>
          <p:nvPr/>
        </p:nvSpPr>
        <p:spPr>
          <a:xfrm>
            <a:off x="8183880" y="3524098"/>
            <a:ext cx="3291840" cy="457200"/>
          </a:xfrm>
          <a:prstGeom prst="rect">
            <a:avLst/>
          </a:prstGeom>
          <a:noFill/>
          <a:ln/>
        </p:spPr>
        <p:txBody>
          <a:bodyPr wrap="square" lIns="0" tIns="0" rIns="0" bIns="0" rtlCol="0" anchor="t"/>
          <a:lstStyle/>
          <a:p>
            <a:pPr algn="ctr" indent="0" marL="0">
              <a:buNone/>
            </a:pPr>
            <a:r>
              <a:rPr lang="en-US" sz="1200" dirty="0">
                <a:solidFill>
                  <a:srgbClr val="7F9587"/>
                </a:solidFill>
                <a:latin typeface="Meiryo" pitchFamily="34" charset="0"/>
                <a:ea typeface="Meiryo" pitchFamily="34" charset="-122"/>
                <a:cs typeface="Meiryo" pitchFamily="34" charset="-120"/>
              </a:rPr>
              <a:t>写真：社員・車両・施設</a:t>
            </a:r>
            <a:endParaRPr lang="en-US" sz="1200" dirty="0"/>
          </a:p>
        </p:txBody>
      </p:sp>
      <p:sp>
        <p:nvSpPr>
          <p:cNvPr id="15" name="Text 11"/>
          <p:cNvSpPr txBox="1"/>
          <p:nvPr/>
        </p:nvSpPr>
        <p:spPr>
          <a:xfrm>
            <a:off x="8046720" y="4937760"/>
            <a:ext cx="3566160" cy="548640"/>
          </a:xfrm>
          <a:prstGeom prst="rect">
            <a:avLst/>
          </a:prstGeom>
          <a:noFill/>
          <a:ln/>
        </p:spPr>
        <p:txBody>
          <a:bodyPr wrap="square" lIns="0" tIns="0" rIns="0" bIns="0" rtlCol="0" anchor="ctr"/>
          <a:lstStyle/>
          <a:p>
            <a:pPr algn="ctr" indent="0" marL="0">
              <a:buNone/>
            </a:pPr>
            <a:r>
              <a:rPr lang="en-US" sz="2400" b="1" dirty="0">
                <a:solidFill>
                  <a:srgbClr val="F28B30"/>
                </a:solidFill>
                <a:latin typeface="Meiryo" pitchFamily="34" charset="0"/>
                <a:ea typeface="Meiryo" pitchFamily="34" charset="-122"/>
                <a:cs typeface="Meiryo" pitchFamily="34" charset="-120"/>
              </a:rPr>
              <a:t>地域の暮らしを支える</a:t>
            </a:r>
            <a:endParaRPr lang="en-US" sz="2400" dirty="0"/>
          </a:p>
        </p:txBody>
      </p:sp>
      <p:sp>
        <p:nvSpPr>
          <p:cNvPr id="16" name="Text 12"/>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AAAAA"/>
                </a:solidFill>
                <a:latin typeface="Meiryo" pitchFamily="34" charset="0"/>
                <a:ea typeface="Meiryo" pitchFamily="34" charset="-122"/>
                <a:cs typeface="Meiryo"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3FB"/>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914400"/>
          </a:xfrm>
          <a:prstGeom prst="rect">
            <a:avLst/>
          </a:prstGeom>
          <a:noFill/>
          <a:ln/>
        </p:spPr>
        <p:txBody>
          <a:bodyPr wrap="square" lIns="0" tIns="0" rIns="0" bIns="0" rtlCol="0" anchor="ctr"/>
          <a:lstStyle/>
          <a:p>
            <a:pPr algn="l" indent="0" marL="0">
              <a:buNone/>
            </a:pPr>
            <a:r>
              <a:rPr lang="en-US" sz="3600" b="1" dirty="0">
                <a:solidFill>
                  <a:srgbClr val="1B5E3A"/>
                </a:solidFill>
                <a:latin typeface="Meiryo" pitchFamily="34" charset="0"/>
                <a:ea typeface="Meiryo" pitchFamily="34" charset="-122"/>
                <a:cs typeface="Meiryo" pitchFamily="34" charset="-120"/>
              </a:rPr>
              <a:t>もし、この仕事がなくなったら？</a:t>
            </a:r>
            <a:endParaRPr lang="en-US" sz="3600" dirty="0"/>
          </a:p>
        </p:txBody>
      </p:sp>
      <p:sp>
        <p:nvSpPr>
          <p:cNvPr id="3" name="Shape 1"/>
          <p:cNvSpPr/>
          <p:nvPr/>
        </p:nvSpPr>
        <p:spPr>
          <a:xfrm>
            <a:off x="548640" y="1463040"/>
            <a:ext cx="6766560" cy="914400"/>
          </a:xfrm>
          <a:prstGeom prst="roundRect">
            <a:avLst>
              <a:gd name="adj" fmla="val 50000"/>
            </a:avLst>
          </a:prstGeom>
          <a:solidFill>
            <a:srgbClr val="FFFFFF"/>
          </a:solidFill>
          <a:ln w="12700">
            <a:solidFill>
              <a:srgbClr val="FFFFFF"/>
            </a:solidFill>
            <a:prstDash val="solid"/>
          </a:ln>
        </p:spPr>
      </p:sp>
      <p:sp>
        <p:nvSpPr>
          <p:cNvPr id="4" name="Text 2"/>
          <p:cNvSpPr txBox="1"/>
          <p:nvPr/>
        </p:nvSpPr>
        <p:spPr>
          <a:xfrm>
            <a:off x="914400" y="1463040"/>
            <a:ext cx="6217920" cy="914400"/>
          </a:xfrm>
          <a:prstGeom prst="rect">
            <a:avLst/>
          </a:prstGeom>
          <a:noFill/>
          <a:ln/>
        </p:spPr>
        <p:txBody>
          <a:bodyPr wrap="square" lIns="0" tIns="0" rIns="0" bIns="0" rtlCol="0" anchor="ctr"/>
          <a:lstStyle/>
          <a:p>
            <a:pPr indent="0" marL="0">
              <a:buNone/>
            </a:pPr>
            <a:r>
              <a:rPr lang="en-US" sz="2200" b="1" dirty="0">
                <a:solidFill>
                  <a:srgbClr val="2B2B2B"/>
                </a:solidFill>
                <a:latin typeface="Meiryo" pitchFamily="34" charset="0"/>
                <a:ea typeface="Meiryo" pitchFamily="34" charset="-122"/>
                <a:cs typeface="Meiryo" pitchFamily="34" charset="-120"/>
              </a:rPr>
              <a:t>ごみが集められなくなったら？</a:t>
            </a:r>
            <a:endParaRPr lang="en-US" sz="2200" dirty="0"/>
          </a:p>
        </p:txBody>
      </p:sp>
      <p:sp>
        <p:nvSpPr>
          <p:cNvPr id="5" name="Shape 3"/>
          <p:cNvSpPr/>
          <p:nvPr/>
        </p:nvSpPr>
        <p:spPr>
          <a:xfrm>
            <a:off x="548640" y="2560320"/>
            <a:ext cx="6766560" cy="914400"/>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914400" y="2560320"/>
            <a:ext cx="6217920" cy="914400"/>
          </a:xfrm>
          <a:prstGeom prst="rect">
            <a:avLst/>
          </a:prstGeom>
          <a:noFill/>
          <a:ln/>
        </p:spPr>
        <p:txBody>
          <a:bodyPr wrap="square" lIns="0" tIns="0" rIns="0" bIns="0" rtlCol="0" anchor="ctr"/>
          <a:lstStyle/>
          <a:p>
            <a:pPr indent="0" marL="0">
              <a:buNone/>
            </a:pPr>
            <a:r>
              <a:rPr lang="en-US" sz="2200" b="1" dirty="0">
                <a:solidFill>
                  <a:srgbClr val="2B2B2B"/>
                </a:solidFill>
                <a:latin typeface="Meiryo" pitchFamily="34" charset="0"/>
                <a:ea typeface="Meiryo" pitchFamily="34" charset="-122"/>
                <a:cs typeface="Meiryo" pitchFamily="34" charset="-120"/>
              </a:rPr>
              <a:t>まちにごみがたまったら？</a:t>
            </a:r>
            <a:endParaRPr lang="en-US" sz="2200" dirty="0"/>
          </a:p>
        </p:txBody>
      </p:sp>
      <p:sp>
        <p:nvSpPr>
          <p:cNvPr id="7" name="Shape 5"/>
          <p:cNvSpPr/>
          <p:nvPr/>
        </p:nvSpPr>
        <p:spPr>
          <a:xfrm>
            <a:off x="548640" y="3657600"/>
            <a:ext cx="6766560" cy="914400"/>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914400" y="3657600"/>
            <a:ext cx="6217920" cy="914400"/>
          </a:xfrm>
          <a:prstGeom prst="rect">
            <a:avLst/>
          </a:prstGeom>
          <a:noFill/>
          <a:ln/>
        </p:spPr>
        <p:txBody>
          <a:bodyPr wrap="square" lIns="0" tIns="0" rIns="0" bIns="0" rtlCol="0" anchor="ctr"/>
          <a:lstStyle/>
          <a:p>
            <a:pPr indent="0" marL="0">
              <a:buNone/>
            </a:pPr>
            <a:r>
              <a:rPr lang="en-US" sz="2200" b="1" dirty="0">
                <a:solidFill>
                  <a:srgbClr val="2B2B2B"/>
                </a:solidFill>
                <a:latin typeface="Meiryo" pitchFamily="34" charset="0"/>
                <a:ea typeface="Meiryo" pitchFamily="34" charset="-122"/>
                <a:cs typeface="Meiryo" pitchFamily="34" charset="-120"/>
              </a:rPr>
              <a:t>学校や家では、どうなる？</a:t>
            </a:r>
            <a:endParaRPr lang="en-US" sz="2200" dirty="0"/>
          </a:p>
        </p:txBody>
      </p:sp>
      <p:sp>
        <p:nvSpPr>
          <p:cNvPr id="9" name="Shape 7"/>
          <p:cNvSpPr/>
          <p:nvPr/>
        </p:nvSpPr>
        <p:spPr>
          <a:xfrm>
            <a:off x="7680960" y="1463040"/>
            <a:ext cx="3931920" cy="2651760"/>
          </a:xfrm>
          <a:prstGeom prst="roundRect">
            <a:avLst>
              <a:gd name="adj" fmla="val 6897"/>
            </a:avLst>
          </a:prstGeom>
          <a:solidFill>
            <a:srgbClr val="F3F6F4"/>
          </a:solidFill>
          <a:ln w="19050">
            <a:solidFill>
              <a:srgbClr val="B9C9BE"/>
            </a:solidFill>
            <a:prstDash val="dash"/>
          </a:ln>
        </p:spPr>
      </p:sp>
      <p:pic>
        <p:nvPicPr>
          <p:cNvPr id="10" name="Image 0" descr="preencoded.png">    </p:cNvPr>
          <p:cNvPicPr>
            <a:picLocks noChangeAspect="1"/>
          </p:cNvPicPr>
          <p:nvPr/>
        </p:nvPicPr>
        <p:blipFill>
          <a:blip r:embed="rId1"/>
          <a:stretch>
            <a:fillRect/>
          </a:stretch>
        </p:blipFill>
        <p:spPr>
          <a:xfrm>
            <a:off x="9275674" y="2280514"/>
            <a:ext cx="742493" cy="742493"/>
          </a:xfrm>
          <a:prstGeom prst="rect">
            <a:avLst/>
          </a:prstGeom>
        </p:spPr>
      </p:pic>
      <p:sp>
        <p:nvSpPr>
          <p:cNvPr id="11" name="Text 8"/>
          <p:cNvSpPr txBox="1"/>
          <p:nvPr/>
        </p:nvSpPr>
        <p:spPr>
          <a:xfrm>
            <a:off x="7818120" y="3114446"/>
            <a:ext cx="3657600" cy="457200"/>
          </a:xfrm>
          <a:prstGeom prst="rect">
            <a:avLst/>
          </a:prstGeom>
          <a:noFill/>
          <a:ln/>
        </p:spPr>
        <p:txBody>
          <a:bodyPr wrap="square" lIns="0" tIns="0" rIns="0" bIns="0" rtlCol="0" anchor="t"/>
          <a:lstStyle/>
          <a:p>
            <a:pPr algn="ctr" indent="0" marL="0">
              <a:buNone/>
            </a:pPr>
            <a:r>
              <a:rPr lang="en-US" sz="1200" dirty="0">
                <a:solidFill>
                  <a:srgbClr val="7F9587"/>
                </a:solidFill>
                <a:latin typeface="Meiryo" pitchFamily="34" charset="0"/>
                <a:ea typeface="Meiryo" pitchFamily="34" charset="-122"/>
                <a:cs typeface="Meiryo" pitchFamily="34" charset="-120"/>
              </a:rPr>
              <a:t>写真：まちのごみステーションなど</a:t>
            </a:r>
            <a:endParaRPr lang="en-US" sz="1200" dirty="0"/>
          </a:p>
        </p:txBody>
      </p:sp>
      <p:sp>
        <p:nvSpPr>
          <p:cNvPr id="12" name="Shape 9">
            <a:hlinkClick r:id="rId2" tooltip="アプリを開く"/>
          </p:cNvPr>
          <p:cNvSpPr/>
          <p:nvPr/>
        </p:nvSpPr>
        <p:spPr>
          <a:xfrm>
            <a:off x="8183880" y="4206240"/>
            <a:ext cx="2926080" cy="548640"/>
          </a:xfrm>
          <a:prstGeom prst="roundRect">
            <a:avLst>
              <a:gd name="adj" fmla="val 50000"/>
            </a:avLst>
          </a:prstGeom>
          <a:solidFill>
            <a:srgbClr val="2F80C3"/>
          </a:solidFill>
          <a:ln w="12700">
            <a:solidFill>
              <a:srgbClr val="2F80C3"/>
            </a:solidFill>
            <a:prstDash val="solid"/>
          </a:ln>
        </p:spPr>
      </p:sp>
      <p:sp>
        <p:nvSpPr>
          <p:cNvPr id="13" name="Text 10">
            <a:hlinkClick r:id="rId3" tooltip=""/>
          </p:cNvPr>
          <p:cNvSpPr txBox="1"/>
          <p:nvPr/>
        </p:nvSpPr>
        <p:spPr>
          <a:xfrm>
            <a:off x="8183880" y="4206240"/>
            <a:ext cx="2926080" cy="548640"/>
          </a:xfrm>
          <a:prstGeom prst="rect">
            <a:avLst/>
          </a:prstGeom>
          <a:noFill/>
          <a:ln/>
        </p:spPr>
        <p:txBody>
          <a:bodyPr wrap="square" lIns="0" tIns="0" rIns="0" bIns="0" rtlCol="0" anchor="ctr"/>
          <a:lstStyle/>
          <a:p>
            <a:pPr algn="ctr" indent="0" marL="0">
              <a:buNone/>
            </a:pPr>
            <a:r>
              <a:rPr lang="en-US" sz="1600" b="1" u="sng" dirty="0">
                <a:solidFill>
                  <a:srgbClr val="FFFFFF"/>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 アプリ：パッカー車ゲーム</a:t>
            </a:r>
            <a:endParaRPr lang="en-US" sz="1600" dirty="0"/>
          </a:p>
        </p:txBody>
      </p:sp>
      <p:sp>
        <p:nvSpPr>
          <p:cNvPr id="14" name="Shape 11"/>
          <p:cNvSpPr/>
          <p:nvPr/>
        </p:nvSpPr>
        <p:spPr>
          <a:xfrm>
            <a:off x="548640" y="4937760"/>
            <a:ext cx="11091672" cy="1280160"/>
          </a:xfrm>
          <a:prstGeom prst="roundRect">
            <a:avLst>
              <a:gd name="adj" fmla="val 17857"/>
            </a:avLst>
          </a:prstGeom>
          <a:solidFill>
            <a:srgbClr val="1B5E3A"/>
          </a:solidFill>
          <a:ln w="12700">
            <a:solidFill>
              <a:srgbClr val="1B5E3A"/>
            </a:solidFill>
            <a:prstDash val="solid"/>
          </a:ln>
        </p:spPr>
      </p:sp>
      <p:sp>
        <p:nvSpPr>
          <p:cNvPr id="15" name="Text 12"/>
          <p:cNvSpPr txBox="1"/>
          <p:nvPr/>
        </p:nvSpPr>
        <p:spPr>
          <a:xfrm>
            <a:off x="822960" y="4937760"/>
            <a:ext cx="10543032" cy="1280160"/>
          </a:xfrm>
          <a:prstGeom prst="rect">
            <a:avLst/>
          </a:prstGeom>
          <a:noFill/>
          <a:ln/>
        </p:spPr>
        <p:txBody>
          <a:bodyPr wrap="square" lIns="0" tIns="0" rIns="0" bIns="0" rtlCol="0" anchor="ctr"/>
          <a:lstStyle/>
          <a:p>
            <a:pPr algn="ctr" indent="0" marL="0">
              <a:buNone/>
            </a:pPr>
            <a:r>
              <a:rPr lang="en-US" sz="2600" b="1" dirty="0">
                <a:solidFill>
                  <a:srgbClr val="FFFFFF"/>
                </a:solidFill>
                <a:latin typeface="Meiryo" pitchFamily="34" charset="0"/>
                <a:ea typeface="Meiryo" pitchFamily="34" charset="-122"/>
                <a:cs typeface="Meiryo" pitchFamily="34" charset="-120"/>
              </a:rPr>
              <a:t>ふだんは気づかないけれど、なくなると困る仕事</a:t>
            </a:r>
            <a:endParaRPr lang="en-US" sz="2600" dirty="0"/>
          </a:p>
        </p:txBody>
      </p:sp>
      <p:sp>
        <p:nvSpPr>
          <p:cNvPr id="16" name="Text 13"/>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AAAAA"/>
                </a:solidFill>
                <a:latin typeface="Meiryo" pitchFamily="34" charset="0"/>
                <a:ea typeface="Meiryo" pitchFamily="34" charset="-122"/>
                <a:cs typeface="Meiryo"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914400"/>
          </a:xfrm>
          <a:prstGeom prst="rect">
            <a:avLst/>
          </a:prstGeom>
          <a:noFill/>
          <a:ln/>
        </p:spPr>
        <p:txBody>
          <a:bodyPr wrap="square" lIns="0" tIns="0" rIns="0" bIns="0" rtlCol="0" anchor="ctr"/>
          <a:lstStyle/>
          <a:p>
            <a:pPr algn="l" indent="0" marL="0">
              <a:buNone/>
            </a:pPr>
            <a:r>
              <a:rPr lang="en-US" sz="3600" b="1" dirty="0">
                <a:solidFill>
                  <a:srgbClr val="F28B30"/>
                </a:solidFill>
                <a:latin typeface="Meiryo" pitchFamily="34" charset="0"/>
                <a:ea typeface="Meiryo" pitchFamily="34" charset="-122"/>
                <a:cs typeface="Meiryo" pitchFamily="34" charset="-120"/>
              </a:rPr>
              <a:t>ごみ分別クイズ　～これは何ごみ？～</a:t>
            </a:r>
            <a:endParaRPr lang="en-US" sz="3600" dirty="0"/>
          </a:p>
        </p:txBody>
      </p:sp>
      <p:sp>
        <p:nvSpPr>
          <p:cNvPr id="3" name="Shape 1"/>
          <p:cNvSpPr/>
          <p:nvPr/>
        </p:nvSpPr>
        <p:spPr>
          <a:xfrm>
            <a:off x="548640" y="1417320"/>
            <a:ext cx="3566160" cy="1828800"/>
          </a:xfrm>
          <a:prstGeom prst="roundRect">
            <a:avLst>
              <a:gd name="adj" fmla="val 10000"/>
            </a:avLst>
          </a:prstGeom>
          <a:solidFill>
            <a:srgbClr val="F3F6F4"/>
          </a:solidFill>
          <a:ln w="19050">
            <a:solidFill>
              <a:srgbClr val="B9C9BE"/>
            </a:solidFill>
            <a:prstDash val="dash"/>
          </a:ln>
        </p:spPr>
      </p:sp>
      <p:pic>
        <p:nvPicPr>
          <p:cNvPr id="4" name="Image 0" descr="preencoded.png">    </p:cNvPr>
          <p:cNvPicPr>
            <a:picLocks noChangeAspect="1"/>
          </p:cNvPicPr>
          <p:nvPr/>
        </p:nvPicPr>
        <p:blipFill>
          <a:blip r:embed="rId1"/>
          <a:stretch>
            <a:fillRect/>
          </a:stretch>
        </p:blipFill>
        <p:spPr>
          <a:xfrm>
            <a:off x="2075688" y="1938528"/>
            <a:ext cx="512064" cy="512064"/>
          </a:xfrm>
          <a:prstGeom prst="rect">
            <a:avLst/>
          </a:prstGeom>
        </p:spPr>
      </p:pic>
      <p:sp>
        <p:nvSpPr>
          <p:cNvPr id="5" name="Text 2"/>
          <p:cNvSpPr txBox="1"/>
          <p:nvPr/>
        </p:nvSpPr>
        <p:spPr>
          <a:xfrm>
            <a:off x="685800" y="2542032"/>
            <a:ext cx="3291840" cy="457200"/>
          </a:xfrm>
          <a:prstGeom prst="rect">
            <a:avLst/>
          </a:prstGeom>
          <a:noFill/>
          <a:ln/>
        </p:spPr>
        <p:txBody>
          <a:bodyPr wrap="square" lIns="0" tIns="0" rIns="0" bIns="0" rtlCol="0" anchor="t"/>
          <a:lstStyle/>
          <a:p>
            <a:pPr algn="ctr" indent="0" marL="0">
              <a:buNone/>
            </a:pPr>
            <a:r>
              <a:rPr lang="en-US" sz="1200" dirty="0">
                <a:solidFill>
                  <a:srgbClr val="7F9587"/>
                </a:solidFill>
                <a:latin typeface="Meiryo" pitchFamily="34" charset="0"/>
                <a:ea typeface="Meiryo" pitchFamily="34" charset="-122"/>
                <a:cs typeface="Meiryo" pitchFamily="34" charset="-120"/>
              </a:rPr>
              <a:t>写真：ペットボトル</a:t>
            </a:r>
            <a:endParaRPr lang="en-US" sz="1200" dirty="0"/>
          </a:p>
        </p:txBody>
      </p:sp>
      <p:sp>
        <p:nvSpPr>
          <p:cNvPr id="6" name="Shape 3"/>
          <p:cNvSpPr/>
          <p:nvPr/>
        </p:nvSpPr>
        <p:spPr>
          <a:xfrm>
            <a:off x="658368" y="1527048"/>
            <a:ext cx="502920" cy="502920"/>
          </a:xfrm>
          <a:prstGeom prst="ellipse">
            <a:avLst/>
          </a:prstGeom>
          <a:solidFill>
            <a:srgbClr val="F28B30"/>
          </a:solidFill>
          <a:ln w="12700">
            <a:solidFill>
              <a:srgbClr val="F28B30"/>
            </a:solidFill>
            <a:prstDash val="solid"/>
          </a:ln>
        </p:spPr>
      </p:sp>
      <p:sp>
        <p:nvSpPr>
          <p:cNvPr id="7" name="Text 4"/>
          <p:cNvSpPr txBox="1"/>
          <p:nvPr/>
        </p:nvSpPr>
        <p:spPr>
          <a:xfrm>
            <a:off x="658368" y="1527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Q1</a:t>
            </a:r>
            <a:endParaRPr lang="en-US" sz="1400" dirty="0"/>
          </a:p>
        </p:txBody>
      </p:sp>
      <p:sp>
        <p:nvSpPr>
          <p:cNvPr id="8" name="Text 5"/>
          <p:cNvSpPr txBox="1"/>
          <p:nvPr/>
        </p:nvSpPr>
        <p:spPr>
          <a:xfrm>
            <a:off x="548640" y="3291840"/>
            <a:ext cx="3566160" cy="411480"/>
          </a:xfrm>
          <a:prstGeom prst="rect">
            <a:avLst/>
          </a:prstGeom>
          <a:noFill/>
          <a:ln/>
        </p:spPr>
        <p:txBody>
          <a:bodyPr wrap="square" lIns="0" tIns="0" rIns="0" bIns="0" rtlCol="0" anchor="ctr"/>
          <a:lstStyle/>
          <a:p>
            <a:pPr algn="ctr" indent="0" marL="0">
              <a:buNone/>
            </a:pPr>
            <a:r>
              <a:rPr lang="en-US" sz="1800" b="1" dirty="0">
                <a:solidFill>
                  <a:srgbClr val="2B2B2B"/>
                </a:solidFill>
                <a:latin typeface="Meiryo" pitchFamily="34" charset="0"/>
                <a:ea typeface="Meiryo" pitchFamily="34" charset="-122"/>
                <a:cs typeface="Meiryo" pitchFamily="34" charset="-120"/>
              </a:rPr>
              <a:t>ペットボトル</a:t>
            </a:r>
            <a:endParaRPr lang="en-US" sz="1800" dirty="0"/>
          </a:p>
        </p:txBody>
      </p:sp>
      <p:sp>
        <p:nvSpPr>
          <p:cNvPr id="9" name="Shape 6"/>
          <p:cNvSpPr/>
          <p:nvPr/>
        </p:nvSpPr>
        <p:spPr>
          <a:xfrm>
            <a:off x="4297680" y="1417320"/>
            <a:ext cx="3566160" cy="1828800"/>
          </a:xfrm>
          <a:prstGeom prst="roundRect">
            <a:avLst>
              <a:gd name="adj" fmla="val 10000"/>
            </a:avLst>
          </a:prstGeom>
          <a:solidFill>
            <a:srgbClr val="F3F6F4"/>
          </a:solidFill>
          <a:ln w="19050">
            <a:solidFill>
              <a:srgbClr val="B9C9BE"/>
            </a:solidFill>
            <a:prstDash val="dash"/>
          </a:ln>
        </p:spPr>
      </p:sp>
      <p:pic>
        <p:nvPicPr>
          <p:cNvPr id="10" name="Image 1" descr="preencoded.png">    </p:cNvPr>
          <p:cNvPicPr>
            <a:picLocks noChangeAspect="1"/>
          </p:cNvPicPr>
          <p:nvPr/>
        </p:nvPicPr>
        <p:blipFill>
          <a:blip r:embed="rId2"/>
          <a:stretch>
            <a:fillRect/>
          </a:stretch>
        </p:blipFill>
        <p:spPr>
          <a:xfrm>
            <a:off x="5824728" y="1938528"/>
            <a:ext cx="512064" cy="512064"/>
          </a:xfrm>
          <a:prstGeom prst="rect">
            <a:avLst/>
          </a:prstGeom>
        </p:spPr>
      </p:pic>
      <p:sp>
        <p:nvSpPr>
          <p:cNvPr id="11" name="Text 7"/>
          <p:cNvSpPr txBox="1"/>
          <p:nvPr/>
        </p:nvSpPr>
        <p:spPr>
          <a:xfrm>
            <a:off x="4434840" y="2542032"/>
            <a:ext cx="3291840" cy="457200"/>
          </a:xfrm>
          <a:prstGeom prst="rect">
            <a:avLst/>
          </a:prstGeom>
          <a:noFill/>
          <a:ln/>
        </p:spPr>
        <p:txBody>
          <a:bodyPr wrap="square" lIns="0" tIns="0" rIns="0" bIns="0" rtlCol="0" anchor="t"/>
          <a:lstStyle/>
          <a:p>
            <a:pPr algn="ctr" indent="0" marL="0">
              <a:buNone/>
            </a:pPr>
            <a:r>
              <a:rPr lang="en-US" sz="1200" dirty="0">
                <a:solidFill>
                  <a:srgbClr val="7F9587"/>
                </a:solidFill>
                <a:latin typeface="Meiryo" pitchFamily="34" charset="0"/>
                <a:ea typeface="Meiryo" pitchFamily="34" charset="-122"/>
                <a:cs typeface="Meiryo" pitchFamily="34" charset="-120"/>
              </a:rPr>
              <a:t>写真：ダンボール</a:t>
            </a:r>
            <a:endParaRPr lang="en-US" sz="1200" dirty="0"/>
          </a:p>
        </p:txBody>
      </p:sp>
      <p:sp>
        <p:nvSpPr>
          <p:cNvPr id="12" name="Shape 8"/>
          <p:cNvSpPr/>
          <p:nvPr/>
        </p:nvSpPr>
        <p:spPr>
          <a:xfrm>
            <a:off x="4407408" y="1527048"/>
            <a:ext cx="502920" cy="502920"/>
          </a:xfrm>
          <a:prstGeom prst="ellipse">
            <a:avLst/>
          </a:prstGeom>
          <a:solidFill>
            <a:srgbClr val="F28B30"/>
          </a:solidFill>
          <a:ln w="12700">
            <a:solidFill>
              <a:srgbClr val="F28B30"/>
            </a:solidFill>
            <a:prstDash val="solid"/>
          </a:ln>
        </p:spPr>
      </p:sp>
      <p:sp>
        <p:nvSpPr>
          <p:cNvPr id="13" name="Text 9"/>
          <p:cNvSpPr txBox="1"/>
          <p:nvPr/>
        </p:nvSpPr>
        <p:spPr>
          <a:xfrm>
            <a:off x="4407408" y="1527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Q2</a:t>
            </a:r>
            <a:endParaRPr lang="en-US" sz="1400" dirty="0"/>
          </a:p>
        </p:txBody>
      </p:sp>
      <p:sp>
        <p:nvSpPr>
          <p:cNvPr id="14" name="Text 10"/>
          <p:cNvSpPr txBox="1"/>
          <p:nvPr/>
        </p:nvSpPr>
        <p:spPr>
          <a:xfrm>
            <a:off x="4297680" y="3291840"/>
            <a:ext cx="3566160" cy="411480"/>
          </a:xfrm>
          <a:prstGeom prst="rect">
            <a:avLst/>
          </a:prstGeom>
          <a:noFill/>
          <a:ln/>
        </p:spPr>
        <p:txBody>
          <a:bodyPr wrap="square" lIns="0" tIns="0" rIns="0" bIns="0" rtlCol="0" anchor="ctr"/>
          <a:lstStyle/>
          <a:p>
            <a:pPr algn="ctr" indent="0" marL="0">
              <a:buNone/>
            </a:pPr>
            <a:r>
              <a:rPr lang="en-US" sz="1800" b="1" dirty="0">
                <a:solidFill>
                  <a:srgbClr val="2B2B2B"/>
                </a:solidFill>
                <a:latin typeface="Meiryo" pitchFamily="34" charset="0"/>
                <a:ea typeface="Meiryo" pitchFamily="34" charset="-122"/>
                <a:cs typeface="Meiryo" pitchFamily="34" charset="-120"/>
              </a:rPr>
              <a:t>ダンボール</a:t>
            </a:r>
            <a:endParaRPr lang="en-US" sz="1800" dirty="0"/>
          </a:p>
        </p:txBody>
      </p:sp>
      <p:sp>
        <p:nvSpPr>
          <p:cNvPr id="15" name="Shape 11"/>
          <p:cNvSpPr/>
          <p:nvPr/>
        </p:nvSpPr>
        <p:spPr>
          <a:xfrm>
            <a:off x="8046720" y="1417320"/>
            <a:ext cx="3566160" cy="1828800"/>
          </a:xfrm>
          <a:prstGeom prst="roundRect">
            <a:avLst>
              <a:gd name="adj" fmla="val 10000"/>
            </a:avLst>
          </a:prstGeom>
          <a:solidFill>
            <a:srgbClr val="F3F6F4"/>
          </a:solidFill>
          <a:ln w="19050">
            <a:solidFill>
              <a:srgbClr val="B9C9BE"/>
            </a:solidFill>
            <a:prstDash val="dash"/>
          </a:ln>
        </p:spPr>
      </p:sp>
      <p:pic>
        <p:nvPicPr>
          <p:cNvPr id="16" name="Image 2" descr="preencoded.png">    </p:cNvPr>
          <p:cNvPicPr>
            <a:picLocks noChangeAspect="1"/>
          </p:cNvPicPr>
          <p:nvPr/>
        </p:nvPicPr>
        <p:blipFill>
          <a:blip r:embed="rId3"/>
          <a:stretch>
            <a:fillRect/>
          </a:stretch>
        </p:blipFill>
        <p:spPr>
          <a:xfrm>
            <a:off x="9573768" y="1938528"/>
            <a:ext cx="512064" cy="512064"/>
          </a:xfrm>
          <a:prstGeom prst="rect">
            <a:avLst/>
          </a:prstGeom>
        </p:spPr>
      </p:pic>
      <p:sp>
        <p:nvSpPr>
          <p:cNvPr id="17" name="Text 12"/>
          <p:cNvSpPr txBox="1"/>
          <p:nvPr/>
        </p:nvSpPr>
        <p:spPr>
          <a:xfrm>
            <a:off x="8183880" y="2542032"/>
            <a:ext cx="3291840" cy="457200"/>
          </a:xfrm>
          <a:prstGeom prst="rect">
            <a:avLst/>
          </a:prstGeom>
          <a:noFill/>
          <a:ln/>
        </p:spPr>
        <p:txBody>
          <a:bodyPr wrap="square" lIns="0" tIns="0" rIns="0" bIns="0" rtlCol="0" anchor="t"/>
          <a:lstStyle/>
          <a:p>
            <a:pPr algn="ctr" indent="0" marL="0">
              <a:buNone/>
            </a:pPr>
            <a:r>
              <a:rPr lang="en-US" sz="1200" dirty="0">
                <a:solidFill>
                  <a:srgbClr val="7F9587"/>
                </a:solidFill>
                <a:latin typeface="Meiryo" pitchFamily="34" charset="0"/>
                <a:ea typeface="Meiryo" pitchFamily="34" charset="-122"/>
                <a:cs typeface="Meiryo" pitchFamily="34" charset="-120"/>
              </a:rPr>
              <a:t>写真：食べのこし（生ごみ）</a:t>
            </a:r>
            <a:endParaRPr lang="en-US" sz="1200" dirty="0"/>
          </a:p>
        </p:txBody>
      </p:sp>
      <p:sp>
        <p:nvSpPr>
          <p:cNvPr id="18" name="Shape 13"/>
          <p:cNvSpPr/>
          <p:nvPr/>
        </p:nvSpPr>
        <p:spPr>
          <a:xfrm>
            <a:off x="8156448" y="1527048"/>
            <a:ext cx="502920" cy="502920"/>
          </a:xfrm>
          <a:prstGeom prst="ellipse">
            <a:avLst/>
          </a:prstGeom>
          <a:solidFill>
            <a:srgbClr val="F28B30"/>
          </a:solidFill>
          <a:ln w="12700">
            <a:solidFill>
              <a:srgbClr val="F28B30"/>
            </a:solidFill>
            <a:prstDash val="solid"/>
          </a:ln>
        </p:spPr>
      </p:sp>
      <p:sp>
        <p:nvSpPr>
          <p:cNvPr id="19" name="Text 14"/>
          <p:cNvSpPr txBox="1"/>
          <p:nvPr/>
        </p:nvSpPr>
        <p:spPr>
          <a:xfrm>
            <a:off x="8156448" y="1527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Q3</a:t>
            </a:r>
            <a:endParaRPr lang="en-US" sz="1400" dirty="0"/>
          </a:p>
        </p:txBody>
      </p:sp>
      <p:sp>
        <p:nvSpPr>
          <p:cNvPr id="20" name="Text 15"/>
          <p:cNvSpPr txBox="1"/>
          <p:nvPr/>
        </p:nvSpPr>
        <p:spPr>
          <a:xfrm>
            <a:off x="8046720" y="3291840"/>
            <a:ext cx="3566160" cy="411480"/>
          </a:xfrm>
          <a:prstGeom prst="rect">
            <a:avLst/>
          </a:prstGeom>
          <a:noFill/>
          <a:ln/>
        </p:spPr>
        <p:txBody>
          <a:bodyPr wrap="square" lIns="0" tIns="0" rIns="0" bIns="0" rtlCol="0" anchor="ctr"/>
          <a:lstStyle/>
          <a:p>
            <a:pPr algn="ctr" indent="0" marL="0">
              <a:buNone/>
            </a:pPr>
            <a:r>
              <a:rPr lang="en-US" sz="1800" b="1" dirty="0">
                <a:solidFill>
                  <a:srgbClr val="2B2B2B"/>
                </a:solidFill>
                <a:latin typeface="Meiryo" pitchFamily="34" charset="0"/>
                <a:ea typeface="Meiryo" pitchFamily="34" charset="-122"/>
                <a:cs typeface="Meiryo" pitchFamily="34" charset="-120"/>
              </a:rPr>
              <a:t>食べのこし（生ごみ）</a:t>
            </a:r>
            <a:endParaRPr lang="en-US" sz="1800" dirty="0"/>
          </a:p>
        </p:txBody>
      </p:sp>
      <p:sp>
        <p:nvSpPr>
          <p:cNvPr id="21" name="Shape 16"/>
          <p:cNvSpPr/>
          <p:nvPr/>
        </p:nvSpPr>
        <p:spPr>
          <a:xfrm>
            <a:off x="548640" y="3794760"/>
            <a:ext cx="3566160" cy="1828800"/>
          </a:xfrm>
          <a:prstGeom prst="roundRect">
            <a:avLst>
              <a:gd name="adj" fmla="val 10000"/>
            </a:avLst>
          </a:prstGeom>
          <a:solidFill>
            <a:srgbClr val="F3F6F4"/>
          </a:solidFill>
          <a:ln w="19050">
            <a:solidFill>
              <a:srgbClr val="B9C9BE"/>
            </a:solidFill>
            <a:prstDash val="dash"/>
          </a:ln>
        </p:spPr>
      </p:sp>
      <p:pic>
        <p:nvPicPr>
          <p:cNvPr id="22" name="Image 3" descr="preencoded.png">    </p:cNvPr>
          <p:cNvPicPr>
            <a:picLocks noChangeAspect="1"/>
          </p:cNvPicPr>
          <p:nvPr/>
        </p:nvPicPr>
        <p:blipFill>
          <a:blip r:embed="rId4"/>
          <a:stretch>
            <a:fillRect/>
          </a:stretch>
        </p:blipFill>
        <p:spPr>
          <a:xfrm>
            <a:off x="2075688" y="4315968"/>
            <a:ext cx="512064" cy="512064"/>
          </a:xfrm>
          <a:prstGeom prst="rect">
            <a:avLst/>
          </a:prstGeom>
        </p:spPr>
      </p:pic>
      <p:sp>
        <p:nvSpPr>
          <p:cNvPr id="23" name="Text 17"/>
          <p:cNvSpPr txBox="1"/>
          <p:nvPr/>
        </p:nvSpPr>
        <p:spPr>
          <a:xfrm>
            <a:off x="685800" y="4919472"/>
            <a:ext cx="3291840" cy="457200"/>
          </a:xfrm>
          <a:prstGeom prst="rect">
            <a:avLst/>
          </a:prstGeom>
          <a:noFill/>
          <a:ln/>
        </p:spPr>
        <p:txBody>
          <a:bodyPr wrap="square" lIns="0" tIns="0" rIns="0" bIns="0" rtlCol="0" anchor="t"/>
          <a:lstStyle/>
          <a:p>
            <a:pPr algn="ctr" indent="0" marL="0">
              <a:buNone/>
            </a:pPr>
            <a:r>
              <a:rPr lang="en-US" sz="1200" dirty="0">
                <a:solidFill>
                  <a:srgbClr val="7F9587"/>
                </a:solidFill>
                <a:latin typeface="Meiryo" pitchFamily="34" charset="0"/>
                <a:ea typeface="Meiryo" pitchFamily="34" charset="-122"/>
                <a:cs typeface="Meiryo" pitchFamily="34" charset="-120"/>
              </a:rPr>
              <a:t>写真：かんでんち（乾電池）</a:t>
            </a:r>
            <a:endParaRPr lang="en-US" sz="1200" dirty="0"/>
          </a:p>
        </p:txBody>
      </p:sp>
      <p:sp>
        <p:nvSpPr>
          <p:cNvPr id="24" name="Shape 18"/>
          <p:cNvSpPr/>
          <p:nvPr/>
        </p:nvSpPr>
        <p:spPr>
          <a:xfrm>
            <a:off x="658368" y="3904488"/>
            <a:ext cx="502920" cy="502920"/>
          </a:xfrm>
          <a:prstGeom prst="ellipse">
            <a:avLst/>
          </a:prstGeom>
          <a:solidFill>
            <a:srgbClr val="F28B30"/>
          </a:solidFill>
          <a:ln w="12700">
            <a:solidFill>
              <a:srgbClr val="F28B30"/>
            </a:solidFill>
            <a:prstDash val="solid"/>
          </a:ln>
        </p:spPr>
      </p:sp>
      <p:sp>
        <p:nvSpPr>
          <p:cNvPr id="25" name="Text 19"/>
          <p:cNvSpPr txBox="1"/>
          <p:nvPr/>
        </p:nvSpPr>
        <p:spPr>
          <a:xfrm>
            <a:off x="658368" y="390448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Q4</a:t>
            </a:r>
            <a:endParaRPr lang="en-US" sz="1400" dirty="0"/>
          </a:p>
        </p:txBody>
      </p:sp>
      <p:sp>
        <p:nvSpPr>
          <p:cNvPr id="26" name="Text 20"/>
          <p:cNvSpPr txBox="1"/>
          <p:nvPr/>
        </p:nvSpPr>
        <p:spPr>
          <a:xfrm>
            <a:off x="548640" y="5669280"/>
            <a:ext cx="3566160" cy="411480"/>
          </a:xfrm>
          <a:prstGeom prst="rect">
            <a:avLst/>
          </a:prstGeom>
          <a:noFill/>
          <a:ln/>
        </p:spPr>
        <p:txBody>
          <a:bodyPr wrap="square" lIns="0" tIns="0" rIns="0" bIns="0" rtlCol="0" anchor="ctr"/>
          <a:lstStyle/>
          <a:p>
            <a:pPr algn="ctr" indent="0" marL="0">
              <a:buNone/>
            </a:pPr>
            <a:r>
              <a:rPr lang="en-US" sz="1800" b="1" dirty="0">
                <a:solidFill>
                  <a:srgbClr val="2B2B2B"/>
                </a:solidFill>
                <a:latin typeface="Meiryo" pitchFamily="34" charset="0"/>
                <a:ea typeface="Meiryo" pitchFamily="34" charset="-122"/>
                <a:cs typeface="Meiryo" pitchFamily="34" charset="-120"/>
              </a:rPr>
              <a:t>かんでんち（乾電池）</a:t>
            </a:r>
            <a:endParaRPr lang="en-US" sz="1800" dirty="0"/>
          </a:p>
        </p:txBody>
      </p:sp>
      <p:sp>
        <p:nvSpPr>
          <p:cNvPr id="27" name="Shape 21"/>
          <p:cNvSpPr/>
          <p:nvPr/>
        </p:nvSpPr>
        <p:spPr>
          <a:xfrm>
            <a:off x="4297680" y="3794760"/>
            <a:ext cx="3566160" cy="1828800"/>
          </a:xfrm>
          <a:prstGeom prst="roundRect">
            <a:avLst>
              <a:gd name="adj" fmla="val 10000"/>
            </a:avLst>
          </a:prstGeom>
          <a:solidFill>
            <a:srgbClr val="F3F6F4"/>
          </a:solidFill>
          <a:ln w="19050">
            <a:solidFill>
              <a:srgbClr val="B9C9BE"/>
            </a:solidFill>
            <a:prstDash val="dash"/>
          </a:ln>
        </p:spPr>
      </p:sp>
      <p:pic>
        <p:nvPicPr>
          <p:cNvPr id="28" name="Image 4" descr="preencoded.png">    </p:cNvPr>
          <p:cNvPicPr>
            <a:picLocks noChangeAspect="1"/>
          </p:cNvPicPr>
          <p:nvPr/>
        </p:nvPicPr>
        <p:blipFill>
          <a:blip r:embed="rId5"/>
          <a:stretch>
            <a:fillRect/>
          </a:stretch>
        </p:blipFill>
        <p:spPr>
          <a:xfrm>
            <a:off x="5824728" y="4315968"/>
            <a:ext cx="512064" cy="512064"/>
          </a:xfrm>
          <a:prstGeom prst="rect">
            <a:avLst/>
          </a:prstGeom>
        </p:spPr>
      </p:pic>
      <p:sp>
        <p:nvSpPr>
          <p:cNvPr id="29" name="Text 22"/>
          <p:cNvSpPr txBox="1"/>
          <p:nvPr/>
        </p:nvSpPr>
        <p:spPr>
          <a:xfrm>
            <a:off x="4434840" y="4919472"/>
            <a:ext cx="3291840" cy="457200"/>
          </a:xfrm>
          <a:prstGeom prst="rect">
            <a:avLst/>
          </a:prstGeom>
          <a:noFill/>
          <a:ln/>
        </p:spPr>
        <p:txBody>
          <a:bodyPr wrap="square" lIns="0" tIns="0" rIns="0" bIns="0" rtlCol="0" anchor="t"/>
          <a:lstStyle/>
          <a:p>
            <a:pPr algn="ctr" indent="0" marL="0">
              <a:buNone/>
            </a:pPr>
            <a:r>
              <a:rPr lang="en-US" sz="1200" dirty="0">
                <a:solidFill>
                  <a:srgbClr val="7F9587"/>
                </a:solidFill>
                <a:latin typeface="Meiryo" pitchFamily="34" charset="0"/>
                <a:ea typeface="Meiryo" pitchFamily="34" charset="-122"/>
                <a:cs typeface="Meiryo" pitchFamily="34" charset="-120"/>
              </a:rPr>
              <a:t>写真：われたコップ</a:t>
            </a:r>
            <a:endParaRPr lang="en-US" sz="1200" dirty="0"/>
          </a:p>
        </p:txBody>
      </p:sp>
      <p:sp>
        <p:nvSpPr>
          <p:cNvPr id="30" name="Shape 23"/>
          <p:cNvSpPr/>
          <p:nvPr/>
        </p:nvSpPr>
        <p:spPr>
          <a:xfrm>
            <a:off x="4407408" y="3904488"/>
            <a:ext cx="502920" cy="502920"/>
          </a:xfrm>
          <a:prstGeom prst="ellipse">
            <a:avLst/>
          </a:prstGeom>
          <a:solidFill>
            <a:srgbClr val="F28B30"/>
          </a:solidFill>
          <a:ln w="12700">
            <a:solidFill>
              <a:srgbClr val="F28B30"/>
            </a:solidFill>
            <a:prstDash val="solid"/>
          </a:ln>
        </p:spPr>
      </p:sp>
      <p:sp>
        <p:nvSpPr>
          <p:cNvPr id="31" name="Text 24"/>
          <p:cNvSpPr txBox="1"/>
          <p:nvPr/>
        </p:nvSpPr>
        <p:spPr>
          <a:xfrm>
            <a:off x="4407408" y="390448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Q5</a:t>
            </a:r>
            <a:endParaRPr lang="en-US" sz="1400" dirty="0"/>
          </a:p>
        </p:txBody>
      </p:sp>
      <p:sp>
        <p:nvSpPr>
          <p:cNvPr id="32" name="Text 25"/>
          <p:cNvSpPr txBox="1"/>
          <p:nvPr/>
        </p:nvSpPr>
        <p:spPr>
          <a:xfrm>
            <a:off x="4297680" y="5669280"/>
            <a:ext cx="3566160" cy="411480"/>
          </a:xfrm>
          <a:prstGeom prst="rect">
            <a:avLst/>
          </a:prstGeom>
          <a:noFill/>
          <a:ln/>
        </p:spPr>
        <p:txBody>
          <a:bodyPr wrap="square" lIns="0" tIns="0" rIns="0" bIns="0" rtlCol="0" anchor="ctr"/>
          <a:lstStyle/>
          <a:p>
            <a:pPr algn="ctr" indent="0" marL="0">
              <a:buNone/>
            </a:pPr>
            <a:r>
              <a:rPr lang="en-US" sz="1800" b="1" dirty="0">
                <a:solidFill>
                  <a:srgbClr val="2B2B2B"/>
                </a:solidFill>
                <a:latin typeface="Meiryo" pitchFamily="34" charset="0"/>
                <a:ea typeface="Meiryo" pitchFamily="34" charset="-122"/>
                <a:cs typeface="Meiryo" pitchFamily="34" charset="-120"/>
              </a:rPr>
              <a:t>われたコップ</a:t>
            </a:r>
            <a:endParaRPr lang="en-US" sz="1800" dirty="0"/>
          </a:p>
        </p:txBody>
      </p:sp>
      <p:sp>
        <p:nvSpPr>
          <p:cNvPr id="33" name="Shape 26"/>
          <p:cNvSpPr/>
          <p:nvPr/>
        </p:nvSpPr>
        <p:spPr>
          <a:xfrm>
            <a:off x="8046720" y="3794760"/>
            <a:ext cx="3566160" cy="1828800"/>
          </a:xfrm>
          <a:prstGeom prst="roundRect">
            <a:avLst>
              <a:gd name="adj" fmla="val 10000"/>
            </a:avLst>
          </a:prstGeom>
          <a:solidFill>
            <a:srgbClr val="F3F6F4"/>
          </a:solidFill>
          <a:ln w="19050">
            <a:solidFill>
              <a:srgbClr val="B9C9BE"/>
            </a:solidFill>
            <a:prstDash val="dash"/>
          </a:ln>
        </p:spPr>
      </p:sp>
      <p:pic>
        <p:nvPicPr>
          <p:cNvPr id="34" name="Image 5" descr="preencoded.png">    </p:cNvPr>
          <p:cNvPicPr>
            <a:picLocks noChangeAspect="1"/>
          </p:cNvPicPr>
          <p:nvPr/>
        </p:nvPicPr>
        <p:blipFill>
          <a:blip r:embed="rId6"/>
          <a:stretch>
            <a:fillRect/>
          </a:stretch>
        </p:blipFill>
        <p:spPr>
          <a:xfrm>
            <a:off x="9573768" y="4315968"/>
            <a:ext cx="512064" cy="512064"/>
          </a:xfrm>
          <a:prstGeom prst="rect">
            <a:avLst/>
          </a:prstGeom>
        </p:spPr>
      </p:pic>
      <p:sp>
        <p:nvSpPr>
          <p:cNvPr id="35" name="Text 27"/>
          <p:cNvSpPr txBox="1"/>
          <p:nvPr/>
        </p:nvSpPr>
        <p:spPr>
          <a:xfrm>
            <a:off x="8183880" y="4919472"/>
            <a:ext cx="3291840" cy="457200"/>
          </a:xfrm>
          <a:prstGeom prst="rect">
            <a:avLst/>
          </a:prstGeom>
          <a:noFill/>
          <a:ln/>
        </p:spPr>
        <p:txBody>
          <a:bodyPr wrap="square" lIns="0" tIns="0" rIns="0" bIns="0" rtlCol="0" anchor="t"/>
          <a:lstStyle/>
          <a:p>
            <a:pPr algn="ctr" indent="0" marL="0">
              <a:buNone/>
            </a:pPr>
            <a:r>
              <a:rPr lang="en-US" sz="1200" dirty="0">
                <a:solidFill>
                  <a:srgbClr val="7F9587"/>
                </a:solidFill>
                <a:latin typeface="Meiryo" pitchFamily="34" charset="0"/>
                <a:ea typeface="Meiryo" pitchFamily="34" charset="-122"/>
                <a:cs typeface="Meiryo" pitchFamily="34" charset="-120"/>
              </a:rPr>
              <a:t>写真：牛乳パック</a:t>
            </a:r>
            <a:endParaRPr lang="en-US" sz="1200" dirty="0"/>
          </a:p>
        </p:txBody>
      </p:sp>
      <p:sp>
        <p:nvSpPr>
          <p:cNvPr id="36" name="Shape 28"/>
          <p:cNvSpPr/>
          <p:nvPr/>
        </p:nvSpPr>
        <p:spPr>
          <a:xfrm>
            <a:off x="8156448" y="3904488"/>
            <a:ext cx="502920" cy="502920"/>
          </a:xfrm>
          <a:prstGeom prst="ellipse">
            <a:avLst/>
          </a:prstGeom>
          <a:solidFill>
            <a:srgbClr val="F28B30"/>
          </a:solidFill>
          <a:ln w="12700">
            <a:solidFill>
              <a:srgbClr val="F28B30"/>
            </a:solidFill>
            <a:prstDash val="solid"/>
          </a:ln>
        </p:spPr>
      </p:sp>
      <p:sp>
        <p:nvSpPr>
          <p:cNvPr id="37" name="Text 29"/>
          <p:cNvSpPr txBox="1"/>
          <p:nvPr/>
        </p:nvSpPr>
        <p:spPr>
          <a:xfrm>
            <a:off x="8156448" y="390448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Q6</a:t>
            </a:r>
            <a:endParaRPr lang="en-US" sz="1400" dirty="0"/>
          </a:p>
        </p:txBody>
      </p:sp>
      <p:sp>
        <p:nvSpPr>
          <p:cNvPr id="38" name="Text 30"/>
          <p:cNvSpPr txBox="1"/>
          <p:nvPr/>
        </p:nvSpPr>
        <p:spPr>
          <a:xfrm>
            <a:off x="8046720" y="5669280"/>
            <a:ext cx="3566160" cy="411480"/>
          </a:xfrm>
          <a:prstGeom prst="rect">
            <a:avLst/>
          </a:prstGeom>
          <a:noFill/>
          <a:ln/>
        </p:spPr>
        <p:txBody>
          <a:bodyPr wrap="square" lIns="0" tIns="0" rIns="0" bIns="0" rtlCol="0" anchor="ctr"/>
          <a:lstStyle/>
          <a:p>
            <a:pPr algn="ctr" indent="0" marL="0">
              <a:buNone/>
            </a:pPr>
            <a:r>
              <a:rPr lang="en-US" sz="1800" b="1" dirty="0">
                <a:solidFill>
                  <a:srgbClr val="2B2B2B"/>
                </a:solidFill>
                <a:latin typeface="Meiryo" pitchFamily="34" charset="0"/>
                <a:ea typeface="Meiryo" pitchFamily="34" charset="-122"/>
                <a:cs typeface="Meiryo" pitchFamily="34" charset="-120"/>
              </a:rPr>
              <a:t>牛乳パック</a:t>
            </a:r>
            <a:endParaRPr lang="en-US" sz="1800" dirty="0"/>
          </a:p>
        </p:txBody>
      </p:sp>
      <p:sp>
        <p:nvSpPr>
          <p:cNvPr id="39" name="Text 31"/>
          <p:cNvSpPr txBox="1"/>
          <p:nvPr/>
        </p:nvSpPr>
        <p:spPr>
          <a:xfrm>
            <a:off x="548640" y="6263640"/>
            <a:ext cx="7315200" cy="365760"/>
          </a:xfrm>
          <a:prstGeom prst="rect">
            <a:avLst/>
          </a:prstGeom>
          <a:noFill/>
          <a:ln/>
        </p:spPr>
        <p:txBody>
          <a:bodyPr wrap="square" lIns="0" tIns="0" rIns="0" bIns="0" rtlCol="0" anchor="ctr"/>
          <a:lstStyle/>
          <a:p>
            <a:pPr algn="l" indent="0" marL="0">
              <a:buNone/>
            </a:pPr>
            <a:r>
              <a:rPr lang="en-US" sz="1600" b="1" dirty="0">
                <a:solidFill>
                  <a:srgbClr val="F28B30"/>
                </a:solidFill>
                <a:latin typeface="Meiryo" pitchFamily="34" charset="0"/>
                <a:ea typeface="Meiryo" pitchFamily="34" charset="-122"/>
                <a:cs typeface="Meiryo" pitchFamily="34" charset="-120"/>
              </a:rPr>
              <a:t>わかったら、手を挙げてね！</a:t>
            </a:r>
            <a:endParaRPr lang="en-US" sz="1600" dirty="0"/>
          </a:p>
        </p:txBody>
      </p:sp>
      <p:sp>
        <p:nvSpPr>
          <p:cNvPr id="40" name="Shape 32">
            <a:hlinkClick r:id="rId7" tooltip="アプリを開く"/>
          </p:cNvPr>
          <p:cNvSpPr/>
          <p:nvPr/>
        </p:nvSpPr>
        <p:spPr>
          <a:xfrm>
            <a:off x="8686800" y="6172200"/>
            <a:ext cx="2926080" cy="548640"/>
          </a:xfrm>
          <a:prstGeom prst="roundRect">
            <a:avLst>
              <a:gd name="adj" fmla="val 50000"/>
            </a:avLst>
          </a:prstGeom>
          <a:solidFill>
            <a:srgbClr val="2F80C3"/>
          </a:solidFill>
          <a:ln w="12700">
            <a:solidFill>
              <a:srgbClr val="2F80C3"/>
            </a:solidFill>
            <a:prstDash val="solid"/>
          </a:ln>
        </p:spPr>
      </p:sp>
      <p:sp>
        <p:nvSpPr>
          <p:cNvPr id="41" name="Text 33">
            <a:hlinkClick r:id="rId8" tooltip=""/>
          </p:cNvPr>
          <p:cNvSpPr txBox="1"/>
          <p:nvPr/>
        </p:nvSpPr>
        <p:spPr>
          <a:xfrm>
            <a:off x="8686800" y="6172200"/>
            <a:ext cx="2926080" cy="548640"/>
          </a:xfrm>
          <a:prstGeom prst="rect">
            <a:avLst/>
          </a:prstGeom>
          <a:noFill/>
          <a:ln/>
        </p:spPr>
        <p:txBody>
          <a:bodyPr wrap="square" lIns="0" tIns="0" rIns="0" bIns="0" rtlCol="0" anchor="ctr"/>
          <a:lstStyle/>
          <a:p>
            <a:pPr algn="ctr" indent="0" marL="0">
              <a:buNone/>
            </a:pPr>
            <a:r>
              <a:rPr lang="en-US" sz="1600" b="1" u="sng" dirty="0">
                <a:solidFill>
                  <a:srgbClr val="FFFFFF"/>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 アプリ：分別クイズ</a:t>
            </a:r>
            <a:endParaRPr lang="en-US" sz="1600" dirty="0"/>
          </a:p>
        </p:txBody>
      </p:sp>
      <p:sp>
        <p:nvSpPr>
          <p:cNvPr id="42" name="Text 34"/>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AAAAA"/>
                </a:solidFill>
                <a:latin typeface="Meiryo" pitchFamily="34" charset="0"/>
                <a:ea typeface="Meiryo" pitchFamily="34" charset="-122"/>
                <a:cs typeface="Meiryo"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914400"/>
          </a:xfrm>
          <a:prstGeom prst="rect">
            <a:avLst/>
          </a:prstGeom>
          <a:noFill/>
          <a:ln/>
        </p:spPr>
        <p:txBody>
          <a:bodyPr wrap="square" lIns="0" tIns="0" rIns="0" bIns="0" rtlCol="0" anchor="ctr"/>
          <a:lstStyle/>
          <a:p>
            <a:pPr algn="l" indent="0" marL="0">
              <a:buNone/>
            </a:pPr>
            <a:r>
              <a:rPr lang="en-US" sz="3600" b="1" dirty="0">
                <a:solidFill>
                  <a:srgbClr val="1B5E3A"/>
                </a:solidFill>
                <a:latin typeface="Meiryo" pitchFamily="34" charset="0"/>
                <a:ea typeface="Meiryo" pitchFamily="34" charset="-122"/>
                <a:cs typeface="Meiryo" pitchFamily="34" charset="-120"/>
              </a:rPr>
              <a:t>なぜ分別するの？</a:t>
            </a:r>
            <a:endParaRPr lang="en-US" sz="3600" dirty="0"/>
          </a:p>
        </p:txBody>
      </p:sp>
      <p:sp>
        <p:nvSpPr>
          <p:cNvPr id="3" name="Text 1"/>
          <p:cNvSpPr txBox="1"/>
          <p:nvPr/>
        </p:nvSpPr>
        <p:spPr>
          <a:xfrm>
            <a:off x="640080" y="1463040"/>
            <a:ext cx="6309360" cy="548640"/>
          </a:xfrm>
          <a:prstGeom prst="rect">
            <a:avLst/>
          </a:prstGeom>
          <a:noFill/>
          <a:ln/>
        </p:spPr>
        <p:txBody>
          <a:bodyPr wrap="square" lIns="0" tIns="0" rIns="0" bIns="0" rtlCol="0" anchor="ctr"/>
          <a:lstStyle/>
          <a:p>
            <a:pPr indent="0" marL="0">
              <a:buNone/>
            </a:pPr>
            <a:r>
              <a:rPr lang="en-US" sz="2400" b="1" dirty="0">
                <a:solidFill>
                  <a:srgbClr val="2B2B2B"/>
                </a:solidFill>
                <a:latin typeface="Meiryo" pitchFamily="34" charset="0"/>
                <a:ea typeface="Meiryo" pitchFamily="34" charset="-122"/>
                <a:cs typeface="Meiryo" pitchFamily="34" charset="-120"/>
              </a:rPr>
              <a:t>安全に処理するため</a:t>
            </a:r>
            <a:endParaRPr lang="en-US" sz="2400" dirty="0"/>
          </a:p>
        </p:txBody>
      </p:sp>
      <p:sp>
        <p:nvSpPr>
          <p:cNvPr id="4" name="Text 2"/>
          <p:cNvSpPr txBox="1"/>
          <p:nvPr/>
        </p:nvSpPr>
        <p:spPr>
          <a:xfrm>
            <a:off x="640080" y="2011680"/>
            <a:ext cx="6309360" cy="502920"/>
          </a:xfrm>
          <a:prstGeom prst="rect">
            <a:avLst/>
          </a:prstGeom>
          <a:noFill/>
          <a:ln/>
        </p:spPr>
        <p:txBody>
          <a:bodyPr wrap="square" lIns="0" tIns="0" rIns="0" bIns="0" rtlCol="0" anchor="ctr"/>
          <a:lstStyle/>
          <a:p>
            <a:pPr indent="0" marL="0">
              <a:buNone/>
            </a:pPr>
            <a:r>
              <a:rPr lang="en-US" sz="1500" dirty="0">
                <a:solidFill>
                  <a:srgbClr val="6B6B6B"/>
                </a:solidFill>
                <a:latin typeface="Meiryo" pitchFamily="34" charset="0"/>
                <a:ea typeface="Meiryo" pitchFamily="34" charset="-122"/>
                <a:cs typeface="Meiryo" pitchFamily="34" charset="-120"/>
              </a:rPr>
              <a:t>電池やスプレー缶が混ざると、火事になることも。</a:t>
            </a:r>
            <a:endParaRPr lang="en-US" sz="1500" dirty="0"/>
          </a:p>
        </p:txBody>
      </p:sp>
      <p:sp>
        <p:nvSpPr>
          <p:cNvPr id="5" name="Text 3"/>
          <p:cNvSpPr txBox="1"/>
          <p:nvPr/>
        </p:nvSpPr>
        <p:spPr>
          <a:xfrm>
            <a:off x="640080" y="2651760"/>
            <a:ext cx="6309360" cy="548640"/>
          </a:xfrm>
          <a:prstGeom prst="rect">
            <a:avLst/>
          </a:prstGeom>
          <a:noFill/>
          <a:ln/>
        </p:spPr>
        <p:txBody>
          <a:bodyPr wrap="square" lIns="0" tIns="0" rIns="0" bIns="0" rtlCol="0" anchor="ctr"/>
          <a:lstStyle/>
          <a:p>
            <a:pPr indent="0" marL="0">
              <a:buNone/>
            </a:pPr>
            <a:r>
              <a:rPr lang="en-US" sz="2400" b="1" dirty="0">
                <a:solidFill>
                  <a:srgbClr val="2B2B2B"/>
                </a:solidFill>
                <a:latin typeface="Meiryo" pitchFamily="34" charset="0"/>
                <a:ea typeface="Meiryo" pitchFamily="34" charset="-122"/>
                <a:cs typeface="Meiryo" pitchFamily="34" charset="-120"/>
              </a:rPr>
              <a:t>資源を大切にするため</a:t>
            </a:r>
            <a:endParaRPr lang="en-US" sz="2400" dirty="0"/>
          </a:p>
        </p:txBody>
      </p:sp>
      <p:sp>
        <p:nvSpPr>
          <p:cNvPr id="6" name="Text 4"/>
          <p:cNvSpPr txBox="1"/>
          <p:nvPr/>
        </p:nvSpPr>
        <p:spPr>
          <a:xfrm>
            <a:off x="640080" y="3200400"/>
            <a:ext cx="6309360" cy="502920"/>
          </a:xfrm>
          <a:prstGeom prst="rect">
            <a:avLst/>
          </a:prstGeom>
          <a:noFill/>
          <a:ln/>
        </p:spPr>
        <p:txBody>
          <a:bodyPr wrap="square" lIns="0" tIns="0" rIns="0" bIns="0" rtlCol="0" anchor="ctr"/>
          <a:lstStyle/>
          <a:p>
            <a:pPr indent="0" marL="0">
              <a:buNone/>
            </a:pPr>
            <a:r>
              <a:rPr lang="en-US" sz="1500" dirty="0">
                <a:solidFill>
                  <a:srgbClr val="6B6B6B"/>
                </a:solidFill>
                <a:latin typeface="Meiryo" pitchFamily="34" charset="0"/>
                <a:ea typeface="Meiryo" pitchFamily="34" charset="-122"/>
                <a:cs typeface="Meiryo" pitchFamily="34" charset="-120"/>
              </a:rPr>
              <a:t>かん・紙・ペットボトルは、新しいものに生まれ変わる。</a:t>
            </a:r>
            <a:endParaRPr lang="en-US" sz="1500" dirty="0"/>
          </a:p>
        </p:txBody>
      </p:sp>
      <p:sp>
        <p:nvSpPr>
          <p:cNvPr id="7" name="Text 5"/>
          <p:cNvSpPr txBox="1"/>
          <p:nvPr/>
        </p:nvSpPr>
        <p:spPr>
          <a:xfrm>
            <a:off x="640080" y="3840480"/>
            <a:ext cx="6309360" cy="548640"/>
          </a:xfrm>
          <a:prstGeom prst="rect">
            <a:avLst/>
          </a:prstGeom>
          <a:noFill/>
          <a:ln/>
        </p:spPr>
        <p:txBody>
          <a:bodyPr wrap="square" lIns="0" tIns="0" rIns="0" bIns="0" rtlCol="0" anchor="ctr"/>
          <a:lstStyle/>
          <a:p>
            <a:pPr indent="0" marL="0">
              <a:buNone/>
            </a:pPr>
            <a:r>
              <a:rPr lang="en-US" sz="2400" b="1" dirty="0">
                <a:solidFill>
                  <a:srgbClr val="2B2B2B"/>
                </a:solidFill>
                <a:latin typeface="Meiryo" pitchFamily="34" charset="0"/>
                <a:ea typeface="Meiryo" pitchFamily="34" charset="-122"/>
                <a:cs typeface="Meiryo" pitchFamily="34" charset="-120"/>
              </a:rPr>
              <a:t>ごみを減らすため</a:t>
            </a:r>
            <a:endParaRPr lang="en-US" sz="2400" dirty="0"/>
          </a:p>
        </p:txBody>
      </p:sp>
      <p:sp>
        <p:nvSpPr>
          <p:cNvPr id="8" name="Text 6"/>
          <p:cNvSpPr txBox="1"/>
          <p:nvPr/>
        </p:nvSpPr>
        <p:spPr>
          <a:xfrm>
            <a:off x="640080" y="4389120"/>
            <a:ext cx="6309360" cy="502920"/>
          </a:xfrm>
          <a:prstGeom prst="rect">
            <a:avLst/>
          </a:prstGeom>
          <a:noFill/>
          <a:ln/>
        </p:spPr>
        <p:txBody>
          <a:bodyPr wrap="square" lIns="0" tIns="0" rIns="0" bIns="0" rtlCol="0" anchor="ctr"/>
          <a:lstStyle/>
          <a:p>
            <a:pPr indent="0" marL="0">
              <a:buNone/>
            </a:pPr>
            <a:r>
              <a:rPr lang="en-US" sz="1500" dirty="0">
                <a:solidFill>
                  <a:srgbClr val="6B6B6B"/>
                </a:solidFill>
                <a:latin typeface="Meiryo" pitchFamily="34" charset="0"/>
                <a:ea typeface="Meiryo" pitchFamily="34" charset="-122"/>
                <a:cs typeface="Meiryo" pitchFamily="34" charset="-120"/>
              </a:rPr>
              <a:t>分けると、燃やすごみ・うめるごみが少なくなる。</a:t>
            </a:r>
            <a:endParaRPr lang="en-US" sz="1500" dirty="0"/>
          </a:p>
        </p:txBody>
      </p:sp>
      <p:sp>
        <p:nvSpPr>
          <p:cNvPr id="9" name="Text 7"/>
          <p:cNvSpPr txBox="1"/>
          <p:nvPr/>
        </p:nvSpPr>
        <p:spPr>
          <a:xfrm>
            <a:off x="640080" y="5029200"/>
            <a:ext cx="6309360" cy="548640"/>
          </a:xfrm>
          <a:prstGeom prst="rect">
            <a:avLst/>
          </a:prstGeom>
          <a:noFill/>
          <a:ln/>
        </p:spPr>
        <p:txBody>
          <a:bodyPr wrap="square" lIns="0" tIns="0" rIns="0" bIns="0" rtlCol="0" anchor="ctr"/>
          <a:lstStyle/>
          <a:p>
            <a:pPr indent="0" marL="0">
              <a:buNone/>
            </a:pPr>
            <a:r>
              <a:rPr lang="en-US" sz="2400" b="1" dirty="0">
                <a:solidFill>
                  <a:srgbClr val="2B2B2B"/>
                </a:solidFill>
                <a:latin typeface="Meiryo" pitchFamily="34" charset="0"/>
                <a:ea typeface="Meiryo" pitchFamily="34" charset="-122"/>
                <a:cs typeface="Meiryo" pitchFamily="34" charset="-120"/>
              </a:rPr>
              <a:t>環境を守るため</a:t>
            </a:r>
            <a:endParaRPr lang="en-US" sz="2400" dirty="0"/>
          </a:p>
        </p:txBody>
      </p:sp>
      <p:sp>
        <p:nvSpPr>
          <p:cNvPr id="10" name="Text 8"/>
          <p:cNvSpPr txBox="1"/>
          <p:nvPr/>
        </p:nvSpPr>
        <p:spPr>
          <a:xfrm>
            <a:off x="640080" y="5577840"/>
            <a:ext cx="6309360" cy="502920"/>
          </a:xfrm>
          <a:prstGeom prst="rect">
            <a:avLst/>
          </a:prstGeom>
          <a:noFill/>
          <a:ln/>
        </p:spPr>
        <p:txBody>
          <a:bodyPr wrap="square" lIns="0" tIns="0" rIns="0" bIns="0" rtlCol="0" anchor="ctr"/>
          <a:lstStyle/>
          <a:p>
            <a:pPr indent="0" marL="0">
              <a:buNone/>
            </a:pPr>
            <a:r>
              <a:rPr lang="en-US" sz="1500" dirty="0">
                <a:solidFill>
                  <a:srgbClr val="6B6B6B"/>
                </a:solidFill>
                <a:latin typeface="Meiryo" pitchFamily="34" charset="0"/>
                <a:ea typeface="Meiryo" pitchFamily="34" charset="-122"/>
                <a:cs typeface="Meiryo" pitchFamily="34" charset="-120"/>
              </a:rPr>
              <a:t>まちの空気や川、海をきれいに保てる。</a:t>
            </a:r>
            <a:endParaRPr lang="en-US" sz="1500" dirty="0"/>
          </a:p>
        </p:txBody>
      </p:sp>
      <p:sp>
        <p:nvSpPr>
          <p:cNvPr id="11" name="Shape 9"/>
          <p:cNvSpPr/>
          <p:nvPr/>
        </p:nvSpPr>
        <p:spPr>
          <a:xfrm>
            <a:off x="7498080" y="1463040"/>
            <a:ext cx="4114800" cy="4663440"/>
          </a:xfrm>
          <a:prstGeom prst="roundRect">
            <a:avLst>
              <a:gd name="adj" fmla="val 4444"/>
            </a:avLst>
          </a:prstGeom>
          <a:solidFill>
            <a:srgbClr val="F3F6F4"/>
          </a:solidFill>
          <a:ln w="19050">
            <a:solidFill>
              <a:srgbClr val="B9C9BE"/>
            </a:solidFill>
            <a:prstDash val="dash"/>
          </a:ln>
        </p:spPr>
      </p:sp>
      <p:pic>
        <p:nvPicPr>
          <p:cNvPr id="12" name="Image 0" descr="preencoded.png">    </p:cNvPr>
          <p:cNvPicPr>
            <a:picLocks noChangeAspect="1"/>
          </p:cNvPicPr>
          <p:nvPr/>
        </p:nvPicPr>
        <p:blipFill>
          <a:blip r:embed="rId1"/>
          <a:stretch>
            <a:fillRect/>
          </a:stretch>
        </p:blipFill>
        <p:spPr>
          <a:xfrm>
            <a:off x="8979408" y="3081528"/>
            <a:ext cx="1152144" cy="1152144"/>
          </a:xfrm>
          <a:prstGeom prst="rect">
            <a:avLst/>
          </a:prstGeom>
        </p:spPr>
      </p:pic>
      <p:sp>
        <p:nvSpPr>
          <p:cNvPr id="13" name="Text 10"/>
          <p:cNvSpPr txBox="1"/>
          <p:nvPr/>
        </p:nvSpPr>
        <p:spPr>
          <a:xfrm>
            <a:off x="7635240" y="4325112"/>
            <a:ext cx="3840480" cy="457200"/>
          </a:xfrm>
          <a:prstGeom prst="rect">
            <a:avLst/>
          </a:prstGeom>
          <a:noFill/>
          <a:ln/>
        </p:spPr>
        <p:txBody>
          <a:bodyPr wrap="square" lIns="0" tIns="0" rIns="0" bIns="0" rtlCol="0" anchor="t"/>
          <a:lstStyle/>
          <a:p>
            <a:pPr algn="ctr" indent="0" marL="0">
              <a:buNone/>
            </a:pPr>
            <a:r>
              <a:rPr lang="en-US" sz="1200" dirty="0">
                <a:solidFill>
                  <a:srgbClr val="7F9587"/>
                </a:solidFill>
                <a:latin typeface="Meiryo" pitchFamily="34" charset="0"/>
                <a:ea typeface="Meiryo" pitchFamily="34" charset="-122"/>
                <a:cs typeface="Meiryo" pitchFamily="34" charset="-120"/>
              </a:rPr>
              <a:t>写真：分別された資源（かん・ペットボトルなど）</a:t>
            </a:r>
            <a:endParaRPr lang="en-US" sz="1200" dirty="0"/>
          </a:p>
        </p:txBody>
      </p:sp>
      <p:sp>
        <p:nvSpPr>
          <p:cNvPr id="14" name="Text 11"/>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AAAAA"/>
                </a:solidFill>
                <a:latin typeface="Meiryo" pitchFamily="34" charset="0"/>
                <a:ea typeface="Meiryo" pitchFamily="34" charset="-122"/>
                <a:cs typeface="Meiryo"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914400"/>
          </a:xfrm>
          <a:prstGeom prst="rect">
            <a:avLst/>
          </a:prstGeom>
          <a:noFill/>
          <a:ln/>
        </p:spPr>
        <p:txBody>
          <a:bodyPr wrap="square" lIns="0" tIns="0" rIns="0" bIns="0" rtlCol="0" anchor="ctr"/>
          <a:lstStyle/>
          <a:p>
            <a:pPr algn="l" indent="0" marL="0">
              <a:buNone/>
            </a:pPr>
            <a:r>
              <a:rPr lang="en-US" sz="3600" b="1" dirty="0">
                <a:solidFill>
                  <a:srgbClr val="1B5E3A"/>
                </a:solidFill>
                <a:latin typeface="Meiryo" pitchFamily="34" charset="0"/>
                <a:ea typeface="Meiryo" pitchFamily="34" charset="-122"/>
                <a:cs typeface="Meiryo" pitchFamily="34" charset="-120"/>
              </a:rPr>
              <a:t>実は、ごみの仕事だけじゃない</a:t>
            </a:r>
            <a:endParaRPr lang="en-US" sz="3600" dirty="0"/>
          </a:p>
        </p:txBody>
      </p:sp>
      <p:sp>
        <p:nvSpPr>
          <p:cNvPr id="3" name="Text 1"/>
          <p:cNvSpPr txBox="1"/>
          <p:nvPr/>
        </p:nvSpPr>
        <p:spPr>
          <a:xfrm>
            <a:off x="548640" y="1143000"/>
            <a:ext cx="11091672" cy="457200"/>
          </a:xfrm>
          <a:prstGeom prst="rect">
            <a:avLst/>
          </a:prstGeom>
          <a:noFill/>
          <a:ln/>
        </p:spPr>
        <p:txBody>
          <a:bodyPr wrap="square" lIns="0" tIns="0" rIns="0" bIns="0" rtlCol="0" anchor="ctr"/>
          <a:lstStyle/>
          <a:p>
            <a:pPr indent="0" marL="0">
              <a:buNone/>
            </a:pPr>
            <a:r>
              <a:rPr lang="en-US" sz="1800" dirty="0">
                <a:solidFill>
                  <a:srgbClr val="6B6B6B"/>
                </a:solidFill>
                <a:latin typeface="Meiryo" pitchFamily="34" charset="0"/>
                <a:ea typeface="Meiryo" pitchFamily="34" charset="-122"/>
                <a:cs typeface="Meiryo" pitchFamily="34" charset="-120"/>
              </a:rPr>
              <a:t>一つの会社の中にも、いろいろな仕事があります</a:t>
            </a:r>
            <a:endParaRPr lang="en-US" sz="1800" dirty="0"/>
          </a:p>
        </p:txBody>
      </p:sp>
      <p:sp>
        <p:nvSpPr>
          <p:cNvPr id="4" name="Shape 2"/>
          <p:cNvSpPr/>
          <p:nvPr/>
        </p:nvSpPr>
        <p:spPr>
          <a:xfrm>
            <a:off x="425196" y="2011680"/>
            <a:ext cx="1463040" cy="2011680"/>
          </a:xfrm>
          <a:prstGeom prst="roundRect">
            <a:avLst>
              <a:gd name="adj" fmla="val 12500"/>
            </a:avLst>
          </a:prstGeom>
          <a:solidFill>
            <a:srgbClr val="2E9E5B"/>
          </a:solidFill>
          <a:ln w="12700">
            <a:solidFill>
              <a:srgbClr val="2E9E5B"/>
            </a:solidFill>
            <a:prstDash val="solid"/>
          </a:ln>
        </p:spPr>
      </p:sp>
      <p:sp>
        <p:nvSpPr>
          <p:cNvPr id="5" name="Text 3"/>
          <p:cNvSpPr txBox="1"/>
          <p:nvPr/>
        </p:nvSpPr>
        <p:spPr>
          <a:xfrm>
            <a:off x="516636" y="2011680"/>
            <a:ext cx="1280160" cy="201168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車を運転する</a:t>
            </a:r>
            <a:endParaRPr lang="en-US" sz="1500" dirty="0"/>
          </a:p>
        </p:txBody>
      </p:sp>
      <p:sp>
        <p:nvSpPr>
          <p:cNvPr id="6" name="Shape 4"/>
          <p:cNvSpPr/>
          <p:nvPr/>
        </p:nvSpPr>
        <p:spPr>
          <a:xfrm>
            <a:off x="2071116" y="2011680"/>
            <a:ext cx="1463040" cy="2011680"/>
          </a:xfrm>
          <a:prstGeom prst="roundRect">
            <a:avLst>
              <a:gd name="adj" fmla="val 12500"/>
            </a:avLst>
          </a:prstGeom>
          <a:solidFill>
            <a:srgbClr val="2F80C3"/>
          </a:solidFill>
          <a:ln w="12700">
            <a:solidFill>
              <a:srgbClr val="2F80C3"/>
            </a:solidFill>
            <a:prstDash val="solid"/>
          </a:ln>
        </p:spPr>
      </p:sp>
      <p:sp>
        <p:nvSpPr>
          <p:cNvPr id="7" name="Text 5"/>
          <p:cNvSpPr txBox="1"/>
          <p:nvPr/>
        </p:nvSpPr>
        <p:spPr>
          <a:xfrm>
            <a:off x="2162556" y="2011680"/>
            <a:ext cx="1280160" cy="201168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機械を操作する</a:t>
            </a:r>
            <a:endParaRPr lang="en-US" sz="1500" dirty="0"/>
          </a:p>
        </p:txBody>
      </p:sp>
      <p:sp>
        <p:nvSpPr>
          <p:cNvPr id="8" name="Shape 6"/>
          <p:cNvSpPr/>
          <p:nvPr/>
        </p:nvSpPr>
        <p:spPr>
          <a:xfrm>
            <a:off x="3717036" y="2011680"/>
            <a:ext cx="1463040" cy="2011680"/>
          </a:xfrm>
          <a:prstGeom prst="roundRect">
            <a:avLst>
              <a:gd name="adj" fmla="val 12500"/>
            </a:avLst>
          </a:prstGeom>
          <a:solidFill>
            <a:srgbClr val="F28B30"/>
          </a:solidFill>
          <a:ln w="12700">
            <a:solidFill>
              <a:srgbClr val="F28B30"/>
            </a:solidFill>
            <a:prstDash val="solid"/>
          </a:ln>
        </p:spPr>
      </p:sp>
      <p:sp>
        <p:nvSpPr>
          <p:cNvPr id="9" name="Text 7"/>
          <p:cNvSpPr txBox="1"/>
          <p:nvPr/>
        </p:nvSpPr>
        <p:spPr>
          <a:xfrm>
            <a:off x="3808476" y="2011680"/>
            <a:ext cx="1280160" cy="201168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車や設備を直す</a:t>
            </a:r>
            <a:endParaRPr lang="en-US" sz="1500" dirty="0"/>
          </a:p>
        </p:txBody>
      </p:sp>
      <p:sp>
        <p:nvSpPr>
          <p:cNvPr id="10" name="Shape 8"/>
          <p:cNvSpPr/>
          <p:nvPr/>
        </p:nvSpPr>
        <p:spPr>
          <a:xfrm>
            <a:off x="5362956" y="2011680"/>
            <a:ext cx="1463040" cy="2011680"/>
          </a:xfrm>
          <a:prstGeom prst="roundRect">
            <a:avLst>
              <a:gd name="adj" fmla="val 12500"/>
            </a:avLst>
          </a:prstGeom>
          <a:solidFill>
            <a:srgbClr val="7B5EA7"/>
          </a:solidFill>
          <a:ln w="12700">
            <a:solidFill>
              <a:srgbClr val="7B5EA7"/>
            </a:solidFill>
            <a:prstDash val="solid"/>
          </a:ln>
        </p:spPr>
      </p:sp>
      <p:sp>
        <p:nvSpPr>
          <p:cNvPr id="11" name="Text 9"/>
          <p:cNvSpPr txBox="1"/>
          <p:nvPr/>
        </p:nvSpPr>
        <p:spPr>
          <a:xfrm>
            <a:off x="5454396" y="2011680"/>
            <a:ext cx="1280160" cy="201168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現場を管理する</a:t>
            </a:r>
            <a:endParaRPr lang="en-US" sz="1500" dirty="0"/>
          </a:p>
        </p:txBody>
      </p:sp>
      <p:sp>
        <p:nvSpPr>
          <p:cNvPr id="12" name="Shape 10"/>
          <p:cNvSpPr/>
          <p:nvPr/>
        </p:nvSpPr>
        <p:spPr>
          <a:xfrm>
            <a:off x="7008876" y="2011680"/>
            <a:ext cx="1463040" cy="2011680"/>
          </a:xfrm>
          <a:prstGeom prst="roundRect">
            <a:avLst>
              <a:gd name="adj" fmla="val 12500"/>
            </a:avLst>
          </a:prstGeom>
          <a:solidFill>
            <a:srgbClr val="D9534F"/>
          </a:solidFill>
          <a:ln w="12700">
            <a:solidFill>
              <a:srgbClr val="D9534F"/>
            </a:solidFill>
            <a:prstDash val="solid"/>
          </a:ln>
        </p:spPr>
      </p:sp>
      <p:sp>
        <p:nvSpPr>
          <p:cNvPr id="13" name="Text 11"/>
          <p:cNvSpPr txBox="1"/>
          <p:nvPr/>
        </p:nvSpPr>
        <p:spPr>
          <a:xfrm>
            <a:off x="7100316" y="2011680"/>
            <a:ext cx="1280160" cy="201168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お客様と話す</a:t>
            </a:r>
            <a:endParaRPr lang="en-US" sz="1500" dirty="0"/>
          </a:p>
        </p:txBody>
      </p:sp>
      <p:sp>
        <p:nvSpPr>
          <p:cNvPr id="14" name="Shape 12"/>
          <p:cNvSpPr/>
          <p:nvPr/>
        </p:nvSpPr>
        <p:spPr>
          <a:xfrm>
            <a:off x="8654796" y="2011680"/>
            <a:ext cx="1463040" cy="2011680"/>
          </a:xfrm>
          <a:prstGeom prst="roundRect">
            <a:avLst>
              <a:gd name="adj" fmla="val 12500"/>
            </a:avLst>
          </a:prstGeom>
          <a:solidFill>
            <a:srgbClr val="3BB3C3"/>
          </a:solidFill>
          <a:ln w="12700">
            <a:solidFill>
              <a:srgbClr val="3BB3C3"/>
            </a:solidFill>
            <a:prstDash val="solid"/>
          </a:ln>
        </p:spPr>
      </p:sp>
      <p:sp>
        <p:nvSpPr>
          <p:cNvPr id="15" name="Text 13"/>
          <p:cNvSpPr txBox="1"/>
          <p:nvPr/>
        </p:nvSpPr>
        <p:spPr>
          <a:xfrm>
            <a:off x="8746236" y="2011680"/>
            <a:ext cx="1280160" cy="201168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会社を運営する</a:t>
            </a:r>
            <a:endParaRPr lang="en-US" sz="1500" dirty="0"/>
          </a:p>
        </p:txBody>
      </p:sp>
      <p:sp>
        <p:nvSpPr>
          <p:cNvPr id="16" name="Shape 14"/>
          <p:cNvSpPr/>
          <p:nvPr/>
        </p:nvSpPr>
        <p:spPr>
          <a:xfrm>
            <a:off x="10300716" y="2011680"/>
            <a:ext cx="1463040" cy="2011680"/>
          </a:xfrm>
          <a:prstGeom prst="roundRect">
            <a:avLst>
              <a:gd name="adj" fmla="val 12500"/>
            </a:avLst>
          </a:prstGeom>
          <a:solidFill>
            <a:srgbClr val="1B5E3A"/>
          </a:solidFill>
          <a:ln w="12700">
            <a:solidFill>
              <a:srgbClr val="1B5E3A"/>
            </a:solidFill>
            <a:prstDash val="solid"/>
          </a:ln>
        </p:spPr>
      </p:sp>
      <p:sp>
        <p:nvSpPr>
          <p:cNvPr id="17" name="Text 15"/>
          <p:cNvSpPr txBox="1"/>
          <p:nvPr/>
        </p:nvSpPr>
        <p:spPr>
          <a:xfrm>
            <a:off x="10392156" y="2011680"/>
            <a:ext cx="1280160" cy="201168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環境を守る</a:t>
            </a:r>
            <a:endParaRPr lang="en-US" sz="1500" dirty="0"/>
          </a:p>
        </p:txBody>
      </p:sp>
      <p:sp>
        <p:nvSpPr>
          <p:cNvPr id="18" name="Shape 16"/>
          <p:cNvSpPr/>
          <p:nvPr/>
        </p:nvSpPr>
        <p:spPr>
          <a:xfrm>
            <a:off x="548640" y="4572000"/>
            <a:ext cx="11091672" cy="1554480"/>
          </a:xfrm>
          <a:prstGeom prst="roundRect">
            <a:avLst>
              <a:gd name="adj" fmla="val 14706"/>
            </a:avLst>
          </a:prstGeom>
          <a:solidFill>
            <a:srgbClr val="F1F7F3"/>
          </a:solidFill>
          <a:ln w="12700">
            <a:solidFill>
              <a:srgbClr val="F1F7F3"/>
            </a:solidFill>
            <a:prstDash val="solid"/>
          </a:ln>
        </p:spPr>
      </p:sp>
      <p:sp>
        <p:nvSpPr>
          <p:cNvPr id="19" name="Text 17"/>
          <p:cNvSpPr txBox="1"/>
          <p:nvPr/>
        </p:nvSpPr>
        <p:spPr>
          <a:xfrm>
            <a:off x="914400" y="4572000"/>
            <a:ext cx="10360152" cy="1554480"/>
          </a:xfrm>
          <a:prstGeom prst="rect">
            <a:avLst/>
          </a:prstGeom>
          <a:noFill/>
          <a:ln/>
        </p:spPr>
        <p:txBody>
          <a:bodyPr wrap="square" lIns="0" tIns="0" rIns="0" bIns="0" rtlCol="0" anchor="ctr"/>
          <a:lstStyle/>
          <a:p>
            <a:pPr algn="ctr" indent="0" marL="0">
              <a:buNone/>
            </a:pPr>
            <a:r>
              <a:rPr lang="en-US" sz="1800" dirty="0">
                <a:solidFill>
                  <a:srgbClr val="2B2B2B"/>
                </a:solidFill>
                <a:latin typeface="Meiryo" pitchFamily="34" charset="0"/>
                <a:ea typeface="Meiryo" pitchFamily="34" charset="-122"/>
                <a:cs typeface="Meiryo" pitchFamily="34" charset="-120"/>
              </a:rPr>
              <a:t>パッカー車を運転する人、車を直す人、お客様の話を聞く人、会社のお金を計算する人…</a:t>
            </a:r>
            <a:endParaRPr lang="en-US" sz="1800" dirty="0"/>
          </a:p>
          <a:p>
            <a:pPr algn="ctr" indent="0" marL="0">
              <a:buNone/>
            </a:pPr>
            <a:r>
              <a:rPr lang="en-US" sz="1800" dirty="0">
                <a:solidFill>
                  <a:srgbClr val="2B2B2B"/>
                </a:solidFill>
                <a:latin typeface="Meiryo" pitchFamily="34" charset="0"/>
                <a:ea typeface="Meiryo" pitchFamily="34" charset="-122"/>
                <a:cs typeface="Meiryo" pitchFamily="34" charset="-120"/>
              </a:rPr>
              <a:t>たくさんの人の仕事が集まって、まちのごみは集められています。</a:t>
            </a:r>
            <a:endParaRPr lang="en-US" sz="1800" dirty="0"/>
          </a:p>
        </p:txBody>
      </p:sp>
      <p:sp>
        <p:nvSpPr>
          <p:cNvPr id="20" name="Text 18"/>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AAAAA"/>
                </a:solidFill>
                <a:latin typeface="Meiryo" pitchFamily="34" charset="0"/>
                <a:ea typeface="Meiryo" pitchFamily="34" charset="-122"/>
                <a:cs typeface="Meiryo"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914400"/>
          </a:xfrm>
          <a:prstGeom prst="rect">
            <a:avLst/>
          </a:prstGeom>
          <a:noFill/>
          <a:ln/>
        </p:spPr>
        <p:txBody>
          <a:bodyPr wrap="square" lIns="0" tIns="0" rIns="0" bIns="0" rtlCol="0" anchor="ctr"/>
          <a:lstStyle/>
          <a:p>
            <a:pPr algn="l" indent="0" marL="0">
              <a:buNone/>
            </a:pPr>
            <a:r>
              <a:rPr lang="en-US" sz="3600" b="1" dirty="0">
                <a:solidFill>
                  <a:srgbClr val="1B5E3A"/>
                </a:solidFill>
                <a:latin typeface="Meiryo" pitchFamily="34" charset="0"/>
                <a:ea typeface="Meiryo" pitchFamily="34" charset="-122"/>
                <a:cs typeface="Meiryo" pitchFamily="34" charset="-120"/>
              </a:rPr>
              <a:t>世の中には、どんな仕事がある？</a:t>
            </a:r>
            <a:endParaRPr lang="en-US" sz="3600" dirty="0"/>
          </a:p>
        </p:txBody>
      </p:sp>
      <p:sp>
        <p:nvSpPr>
          <p:cNvPr id="3" name="Text 1"/>
          <p:cNvSpPr txBox="1"/>
          <p:nvPr/>
        </p:nvSpPr>
        <p:spPr>
          <a:xfrm>
            <a:off x="548640" y="1143000"/>
            <a:ext cx="11091672" cy="365760"/>
          </a:xfrm>
          <a:prstGeom prst="rect">
            <a:avLst/>
          </a:prstGeom>
          <a:noFill/>
          <a:ln/>
        </p:spPr>
        <p:txBody>
          <a:bodyPr wrap="square" lIns="0" tIns="0" rIns="0" bIns="0" rtlCol="0" anchor="ctr"/>
          <a:lstStyle/>
          <a:p>
            <a:pPr indent="0" marL="0">
              <a:buNone/>
            </a:pPr>
            <a:r>
              <a:rPr lang="en-US" sz="1800" dirty="0">
                <a:solidFill>
                  <a:srgbClr val="6B6B6B"/>
                </a:solidFill>
                <a:latin typeface="Meiryo" pitchFamily="34" charset="0"/>
                <a:ea typeface="Meiryo" pitchFamily="34" charset="-122"/>
                <a:cs typeface="Meiryo" pitchFamily="34" charset="-120"/>
              </a:rPr>
              <a:t>こういう仕事は、士別のまちにもあります</a:t>
            </a:r>
            <a:endParaRPr lang="en-US" sz="1800" dirty="0"/>
          </a:p>
        </p:txBody>
      </p:sp>
      <p:sp>
        <p:nvSpPr>
          <p:cNvPr id="4" name="Shape 2"/>
          <p:cNvSpPr/>
          <p:nvPr/>
        </p:nvSpPr>
        <p:spPr>
          <a:xfrm>
            <a:off x="548640" y="1645920"/>
            <a:ext cx="2651760" cy="2103120"/>
          </a:xfrm>
          <a:prstGeom prst="roundRect">
            <a:avLst>
              <a:gd name="adj" fmla="val 8696"/>
            </a:avLst>
          </a:prstGeom>
          <a:solidFill>
            <a:srgbClr val="F1F7F3"/>
          </a:solidFill>
          <a:ln w="12700">
            <a:solidFill>
              <a:srgbClr val="F1F7F3"/>
            </a:solidFill>
            <a:prstDash val="solid"/>
          </a:ln>
        </p:spPr>
      </p:sp>
      <p:sp>
        <p:nvSpPr>
          <p:cNvPr id="5" name="Text 3"/>
          <p:cNvSpPr txBox="1"/>
          <p:nvPr/>
        </p:nvSpPr>
        <p:spPr>
          <a:xfrm>
            <a:off x="685800" y="2057400"/>
            <a:ext cx="2377440" cy="731520"/>
          </a:xfrm>
          <a:prstGeom prst="rect">
            <a:avLst/>
          </a:prstGeom>
          <a:noFill/>
          <a:ln/>
        </p:spPr>
        <p:txBody>
          <a:bodyPr wrap="square" lIns="0" tIns="0" rIns="0" bIns="0" rtlCol="0" anchor="ctr"/>
          <a:lstStyle/>
          <a:p>
            <a:pPr algn="ctr" indent="0" marL="0">
              <a:buNone/>
            </a:pPr>
            <a:r>
              <a:rPr lang="en-US" sz="1800" b="1" dirty="0">
                <a:solidFill>
                  <a:srgbClr val="D9534F"/>
                </a:solidFill>
                <a:latin typeface="Meiryo" pitchFamily="34" charset="0"/>
                <a:ea typeface="Meiryo" pitchFamily="34" charset="-122"/>
                <a:cs typeface="Meiryo" pitchFamily="34" charset="-120"/>
              </a:rPr>
              <a:t>まちを守る仕事</a:t>
            </a:r>
            <a:endParaRPr lang="en-US" sz="1800" dirty="0"/>
          </a:p>
        </p:txBody>
      </p:sp>
      <p:sp>
        <p:nvSpPr>
          <p:cNvPr id="6" name="Text 4"/>
          <p:cNvSpPr txBox="1"/>
          <p:nvPr/>
        </p:nvSpPr>
        <p:spPr>
          <a:xfrm>
            <a:off x="685800" y="2880360"/>
            <a:ext cx="2377440" cy="640080"/>
          </a:xfrm>
          <a:prstGeom prst="rect">
            <a:avLst/>
          </a:prstGeom>
          <a:noFill/>
          <a:ln/>
        </p:spPr>
        <p:txBody>
          <a:bodyPr wrap="square" lIns="0" tIns="0" rIns="0" bIns="0" rtlCol="0" anchor="ctr"/>
          <a:lstStyle/>
          <a:p>
            <a:pPr algn="ctr" indent="0" marL="0">
              <a:buNone/>
            </a:pPr>
            <a:r>
              <a:rPr lang="en-US" sz="1400" dirty="0">
                <a:solidFill>
                  <a:srgbClr val="6B6B6B"/>
                </a:solidFill>
                <a:latin typeface="Meiryo" pitchFamily="34" charset="0"/>
                <a:ea typeface="Meiryo" pitchFamily="34" charset="-122"/>
                <a:cs typeface="Meiryo" pitchFamily="34" charset="-120"/>
              </a:rPr>
              <a:t>消防署・警察署・ごみ収集</a:t>
            </a:r>
            <a:endParaRPr lang="en-US" sz="1400" dirty="0"/>
          </a:p>
        </p:txBody>
      </p:sp>
      <p:sp>
        <p:nvSpPr>
          <p:cNvPr id="7" name="Shape 5"/>
          <p:cNvSpPr/>
          <p:nvPr/>
        </p:nvSpPr>
        <p:spPr>
          <a:xfrm>
            <a:off x="3383280" y="1645920"/>
            <a:ext cx="2651760" cy="2103120"/>
          </a:xfrm>
          <a:prstGeom prst="roundRect">
            <a:avLst>
              <a:gd name="adj" fmla="val 8696"/>
            </a:avLst>
          </a:prstGeom>
          <a:solidFill>
            <a:srgbClr val="F1F7F3"/>
          </a:solidFill>
          <a:ln w="12700">
            <a:solidFill>
              <a:srgbClr val="F1F7F3"/>
            </a:solidFill>
            <a:prstDash val="solid"/>
          </a:ln>
        </p:spPr>
      </p:sp>
      <p:sp>
        <p:nvSpPr>
          <p:cNvPr id="8" name="Text 6"/>
          <p:cNvSpPr txBox="1"/>
          <p:nvPr/>
        </p:nvSpPr>
        <p:spPr>
          <a:xfrm>
            <a:off x="3520440" y="2057400"/>
            <a:ext cx="2377440" cy="731520"/>
          </a:xfrm>
          <a:prstGeom prst="rect">
            <a:avLst/>
          </a:prstGeom>
          <a:noFill/>
          <a:ln/>
        </p:spPr>
        <p:txBody>
          <a:bodyPr wrap="square" lIns="0" tIns="0" rIns="0" bIns="0" rtlCol="0" anchor="ctr"/>
          <a:lstStyle/>
          <a:p>
            <a:pPr algn="ctr" indent="0" marL="0">
              <a:buNone/>
            </a:pPr>
            <a:r>
              <a:rPr lang="en-US" sz="1800" b="1" dirty="0">
                <a:solidFill>
                  <a:srgbClr val="E8698C"/>
                </a:solidFill>
                <a:latin typeface="Meiryo" pitchFamily="34" charset="0"/>
                <a:ea typeface="Meiryo" pitchFamily="34" charset="-122"/>
                <a:cs typeface="Meiryo" pitchFamily="34" charset="-120"/>
              </a:rPr>
              <a:t>人を助ける仕事</a:t>
            </a:r>
            <a:endParaRPr lang="en-US" sz="1800" dirty="0"/>
          </a:p>
        </p:txBody>
      </p:sp>
      <p:sp>
        <p:nvSpPr>
          <p:cNvPr id="9" name="Text 7"/>
          <p:cNvSpPr txBox="1"/>
          <p:nvPr/>
        </p:nvSpPr>
        <p:spPr>
          <a:xfrm>
            <a:off x="3520440" y="2880360"/>
            <a:ext cx="2377440" cy="640080"/>
          </a:xfrm>
          <a:prstGeom prst="rect">
            <a:avLst/>
          </a:prstGeom>
          <a:noFill/>
          <a:ln/>
        </p:spPr>
        <p:txBody>
          <a:bodyPr wrap="square" lIns="0" tIns="0" rIns="0" bIns="0" rtlCol="0" anchor="ctr"/>
          <a:lstStyle/>
          <a:p>
            <a:pPr algn="ctr" indent="0" marL="0">
              <a:buNone/>
            </a:pPr>
            <a:r>
              <a:rPr lang="en-US" sz="1400" dirty="0">
                <a:solidFill>
                  <a:srgbClr val="6B6B6B"/>
                </a:solidFill>
                <a:latin typeface="Meiryo" pitchFamily="34" charset="0"/>
                <a:ea typeface="Meiryo" pitchFamily="34" charset="-122"/>
                <a:cs typeface="Meiryo" pitchFamily="34" charset="-120"/>
              </a:rPr>
              <a:t>病院・介護施設・保育園</a:t>
            </a:r>
            <a:endParaRPr lang="en-US" sz="1400" dirty="0"/>
          </a:p>
        </p:txBody>
      </p:sp>
      <p:sp>
        <p:nvSpPr>
          <p:cNvPr id="10" name="Shape 8"/>
          <p:cNvSpPr/>
          <p:nvPr/>
        </p:nvSpPr>
        <p:spPr>
          <a:xfrm>
            <a:off x="6217920" y="1645920"/>
            <a:ext cx="2651760" cy="2103120"/>
          </a:xfrm>
          <a:prstGeom prst="roundRect">
            <a:avLst>
              <a:gd name="adj" fmla="val 8696"/>
            </a:avLst>
          </a:prstGeom>
          <a:solidFill>
            <a:srgbClr val="F1F7F3"/>
          </a:solidFill>
          <a:ln w="12700">
            <a:solidFill>
              <a:srgbClr val="F1F7F3"/>
            </a:solidFill>
            <a:prstDash val="solid"/>
          </a:ln>
        </p:spPr>
      </p:sp>
      <p:sp>
        <p:nvSpPr>
          <p:cNvPr id="11" name="Text 9"/>
          <p:cNvSpPr txBox="1"/>
          <p:nvPr/>
        </p:nvSpPr>
        <p:spPr>
          <a:xfrm>
            <a:off x="6355080" y="2057400"/>
            <a:ext cx="2377440" cy="731520"/>
          </a:xfrm>
          <a:prstGeom prst="rect">
            <a:avLst/>
          </a:prstGeom>
          <a:noFill/>
          <a:ln/>
        </p:spPr>
        <p:txBody>
          <a:bodyPr wrap="square" lIns="0" tIns="0" rIns="0" bIns="0" rtlCol="0" anchor="ctr"/>
          <a:lstStyle/>
          <a:p>
            <a:pPr algn="ctr" indent="0" marL="0">
              <a:buNone/>
            </a:pPr>
            <a:r>
              <a:rPr lang="en-US" sz="1800" b="1" dirty="0">
                <a:solidFill>
                  <a:srgbClr val="F28B30"/>
                </a:solidFill>
                <a:latin typeface="Meiryo" pitchFamily="34" charset="0"/>
                <a:ea typeface="Meiryo" pitchFamily="34" charset="-122"/>
                <a:cs typeface="Meiryo" pitchFamily="34" charset="-120"/>
              </a:rPr>
              <a:t>ものを作る仕事</a:t>
            </a:r>
            <a:endParaRPr lang="en-US" sz="1800" dirty="0"/>
          </a:p>
        </p:txBody>
      </p:sp>
      <p:sp>
        <p:nvSpPr>
          <p:cNvPr id="12" name="Text 10"/>
          <p:cNvSpPr txBox="1"/>
          <p:nvPr/>
        </p:nvSpPr>
        <p:spPr>
          <a:xfrm>
            <a:off x="6355080" y="2880360"/>
            <a:ext cx="2377440" cy="640080"/>
          </a:xfrm>
          <a:prstGeom prst="rect">
            <a:avLst/>
          </a:prstGeom>
          <a:noFill/>
          <a:ln/>
        </p:spPr>
        <p:txBody>
          <a:bodyPr wrap="square" lIns="0" tIns="0" rIns="0" bIns="0" rtlCol="0" anchor="ctr"/>
          <a:lstStyle/>
          <a:p>
            <a:pPr algn="ctr" indent="0" marL="0">
              <a:buNone/>
            </a:pPr>
            <a:r>
              <a:rPr lang="en-US" sz="1400" dirty="0">
                <a:solidFill>
                  <a:srgbClr val="6B6B6B"/>
                </a:solidFill>
                <a:latin typeface="Meiryo" pitchFamily="34" charset="0"/>
                <a:ea typeface="Meiryo" pitchFamily="34" charset="-122"/>
                <a:cs typeface="Meiryo" pitchFamily="34" charset="-120"/>
              </a:rPr>
              <a:t>大工さん・工場・パン屋さん</a:t>
            </a:r>
            <a:endParaRPr lang="en-US" sz="1400" dirty="0"/>
          </a:p>
        </p:txBody>
      </p:sp>
      <p:sp>
        <p:nvSpPr>
          <p:cNvPr id="13" name="Shape 11"/>
          <p:cNvSpPr/>
          <p:nvPr/>
        </p:nvSpPr>
        <p:spPr>
          <a:xfrm>
            <a:off x="9052560" y="1645920"/>
            <a:ext cx="2651760" cy="2103120"/>
          </a:xfrm>
          <a:prstGeom prst="roundRect">
            <a:avLst>
              <a:gd name="adj" fmla="val 8696"/>
            </a:avLst>
          </a:prstGeom>
          <a:solidFill>
            <a:srgbClr val="F1F7F3"/>
          </a:solidFill>
          <a:ln w="12700">
            <a:solidFill>
              <a:srgbClr val="F1F7F3"/>
            </a:solidFill>
            <a:prstDash val="solid"/>
          </a:ln>
        </p:spPr>
      </p:sp>
      <p:sp>
        <p:nvSpPr>
          <p:cNvPr id="14" name="Text 12"/>
          <p:cNvSpPr txBox="1"/>
          <p:nvPr/>
        </p:nvSpPr>
        <p:spPr>
          <a:xfrm>
            <a:off x="9189720" y="2057400"/>
            <a:ext cx="2377440" cy="731520"/>
          </a:xfrm>
          <a:prstGeom prst="rect">
            <a:avLst/>
          </a:prstGeom>
          <a:noFill/>
          <a:ln/>
        </p:spPr>
        <p:txBody>
          <a:bodyPr wrap="square" lIns="0" tIns="0" rIns="0" bIns="0" rtlCol="0" anchor="ctr"/>
          <a:lstStyle/>
          <a:p>
            <a:pPr algn="ctr" indent="0" marL="0">
              <a:buNone/>
            </a:pPr>
            <a:r>
              <a:rPr lang="en-US" sz="1800" b="1" dirty="0">
                <a:solidFill>
                  <a:srgbClr val="2F80C3"/>
                </a:solidFill>
                <a:latin typeface="Meiryo" pitchFamily="34" charset="0"/>
                <a:ea typeface="Meiryo" pitchFamily="34" charset="-122"/>
                <a:cs typeface="Meiryo" pitchFamily="34" charset="-120"/>
              </a:rPr>
              <a:t>機械を動かす仕事</a:t>
            </a:r>
            <a:endParaRPr lang="en-US" sz="1800" dirty="0"/>
          </a:p>
        </p:txBody>
      </p:sp>
      <p:sp>
        <p:nvSpPr>
          <p:cNvPr id="15" name="Text 13"/>
          <p:cNvSpPr txBox="1"/>
          <p:nvPr/>
        </p:nvSpPr>
        <p:spPr>
          <a:xfrm>
            <a:off x="9189720" y="2880360"/>
            <a:ext cx="2377440" cy="640080"/>
          </a:xfrm>
          <a:prstGeom prst="rect">
            <a:avLst/>
          </a:prstGeom>
          <a:noFill/>
          <a:ln/>
        </p:spPr>
        <p:txBody>
          <a:bodyPr wrap="square" lIns="0" tIns="0" rIns="0" bIns="0" rtlCol="0" anchor="ctr"/>
          <a:lstStyle/>
          <a:p>
            <a:pPr algn="ctr" indent="0" marL="0">
              <a:buNone/>
            </a:pPr>
            <a:r>
              <a:rPr lang="en-US" sz="1400" dirty="0">
                <a:solidFill>
                  <a:srgbClr val="6B6B6B"/>
                </a:solidFill>
                <a:latin typeface="Meiryo" pitchFamily="34" charset="0"/>
                <a:ea typeface="Meiryo" pitchFamily="34" charset="-122"/>
                <a:cs typeface="Meiryo" pitchFamily="34" charset="-120"/>
              </a:rPr>
              <a:t>除雪車・重機・工場の機械</a:t>
            </a:r>
            <a:endParaRPr lang="en-US" sz="1400" dirty="0"/>
          </a:p>
        </p:txBody>
      </p:sp>
      <p:sp>
        <p:nvSpPr>
          <p:cNvPr id="16" name="Shape 14"/>
          <p:cNvSpPr/>
          <p:nvPr/>
        </p:nvSpPr>
        <p:spPr>
          <a:xfrm>
            <a:off x="548640" y="3931920"/>
            <a:ext cx="2651760" cy="2103120"/>
          </a:xfrm>
          <a:prstGeom prst="roundRect">
            <a:avLst>
              <a:gd name="adj" fmla="val 8696"/>
            </a:avLst>
          </a:prstGeom>
          <a:solidFill>
            <a:srgbClr val="F1F7F3"/>
          </a:solidFill>
          <a:ln w="12700">
            <a:solidFill>
              <a:srgbClr val="F1F7F3"/>
            </a:solidFill>
            <a:prstDash val="solid"/>
          </a:ln>
        </p:spPr>
      </p:sp>
      <p:sp>
        <p:nvSpPr>
          <p:cNvPr id="17" name="Text 15"/>
          <p:cNvSpPr txBox="1"/>
          <p:nvPr/>
        </p:nvSpPr>
        <p:spPr>
          <a:xfrm>
            <a:off x="685800" y="4343400"/>
            <a:ext cx="2377440" cy="731520"/>
          </a:xfrm>
          <a:prstGeom prst="rect">
            <a:avLst/>
          </a:prstGeom>
          <a:noFill/>
          <a:ln/>
        </p:spPr>
        <p:txBody>
          <a:bodyPr wrap="square" lIns="0" tIns="0" rIns="0" bIns="0" rtlCol="0" anchor="ctr"/>
          <a:lstStyle/>
          <a:p>
            <a:pPr algn="ctr" indent="0" marL="0">
              <a:buNone/>
            </a:pPr>
            <a:r>
              <a:rPr lang="en-US" sz="1800" b="1" dirty="0">
                <a:solidFill>
                  <a:srgbClr val="3BB3C3"/>
                </a:solidFill>
                <a:latin typeface="Meiryo" pitchFamily="34" charset="0"/>
                <a:ea typeface="Meiryo" pitchFamily="34" charset="-122"/>
                <a:cs typeface="Meiryo" pitchFamily="34" charset="-120"/>
              </a:rPr>
              <a:t>車に関わる仕事</a:t>
            </a:r>
            <a:endParaRPr lang="en-US" sz="1800" dirty="0"/>
          </a:p>
        </p:txBody>
      </p:sp>
      <p:sp>
        <p:nvSpPr>
          <p:cNvPr id="18" name="Text 16"/>
          <p:cNvSpPr txBox="1"/>
          <p:nvPr/>
        </p:nvSpPr>
        <p:spPr>
          <a:xfrm>
            <a:off x="685800" y="5166360"/>
            <a:ext cx="2377440" cy="640080"/>
          </a:xfrm>
          <a:prstGeom prst="rect">
            <a:avLst/>
          </a:prstGeom>
          <a:noFill/>
          <a:ln/>
        </p:spPr>
        <p:txBody>
          <a:bodyPr wrap="square" lIns="0" tIns="0" rIns="0" bIns="0" rtlCol="0" anchor="ctr"/>
          <a:lstStyle/>
          <a:p>
            <a:pPr algn="ctr" indent="0" marL="0">
              <a:buNone/>
            </a:pPr>
            <a:r>
              <a:rPr lang="en-US" sz="1400" dirty="0">
                <a:solidFill>
                  <a:srgbClr val="6B6B6B"/>
                </a:solidFill>
                <a:latin typeface="Meiryo" pitchFamily="34" charset="0"/>
                <a:ea typeface="Meiryo" pitchFamily="34" charset="-122"/>
                <a:cs typeface="Meiryo" pitchFamily="34" charset="-120"/>
              </a:rPr>
              <a:t>バス・トラック・整備工場</a:t>
            </a:r>
            <a:endParaRPr lang="en-US" sz="1400" dirty="0"/>
          </a:p>
        </p:txBody>
      </p:sp>
      <p:sp>
        <p:nvSpPr>
          <p:cNvPr id="19" name="Shape 17"/>
          <p:cNvSpPr/>
          <p:nvPr/>
        </p:nvSpPr>
        <p:spPr>
          <a:xfrm>
            <a:off x="3383280" y="3931920"/>
            <a:ext cx="2651760" cy="2103120"/>
          </a:xfrm>
          <a:prstGeom prst="roundRect">
            <a:avLst>
              <a:gd name="adj" fmla="val 8696"/>
            </a:avLst>
          </a:prstGeom>
          <a:solidFill>
            <a:srgbClr val="F1F7F3"/>
          </a:solidFill>
          <a:ln w="12700">
            <a:solidFill>
              <a:srgbClr val="F1F7F3"/>
            </a:solidFill>
            <a:prstDash val="solid"/>
          </a:ln>
        </p:spPr>
      </p:sp>
      <p:sp>
        <p:nvSpPr>
          <p:cNvPr id="20" name="Text 18"/>
          <p:cNvSpPr txBox="1"/>
          <p:nvPr/>
        </p:nvSpPr>
        <p:spPr>
          <a:xfrm>
            <a:off x="3520440" y="4343400"/>
            <a:ext cx="2377440" cy="731520"/>
          </a:xfrm>
          <a:prstGeom prst="rect">
            <a:avLst/>
          </a:prstGeom>
          <a:noFill/>
          <a:ln/>
        </p:spPr>
        <p:txBody>
          <a:bodyPr wrap="square" lIns="0" tIns="0" rIns="0" bIns="0" rtlCol="0" anchor="ctr"/>
          <a:lstStyle/>
          <a:p>
            <a:pPr algn="ctr" indent="0" marL="0">
              <a:buNone/>
            </a:pPr>
            <a:r>
              <a:rPr lang="en-US" sz="1800" b="1" dirty="0">
                <a:solidFill>
                  <a:srgbClr val="2E9E5B"/>
                </a:solidFill>
                <a:latin typeface="Meiryo" pitchFamily="34" charset="0"/>
                <a:ea typeface="Meiryo" pitchFamily="34" charset="-122"/>
                <a:cs typeface="Meiryo" pitchFamily="34" charset="-120"/>
              </a:rPr>
              <a:t>自然や環境を守る仕事</a:t>
            </a:r>
            <a:endParaRPr lang="en-US" sz="1800" dirty="0"/>
          </a:p>
        </p:txBody>
      </p:sp>
      <p:sp>
        <p:nvSpPr>
          <p:cNvPr id="21" name="Text 19"/>
          <p:cNvSpPr txBox="1"/>
          <p:nvPr/>
        </p:nvSpPr>
        <p:spPr>
          <a:xfrm>
            <a:off x="3520440" y="5166360"/>
            <a:ext cx="2377440" cy="640080"/>
          </a:xfrm>
          <a:prstGeom prst="rect">
            <a:avLst/>
          </a:prstGeom>
          <a:noFill/>
          <a:ln/>
        </p:spPr>
        <p:txBody>
          <a:bodyPr wrap="square" lIns="0" tIns="0" rIns="0" bIns="0" rtlCol="0" anchor="ctr"/>
          <a:lstStyle/>
          <a:p>
            <a:pPr algn="ctr" indent="0" marL="0">
              <a:buNone/>
            </a:pPr>
            <a:r>
              <a:rPr lang="en-US" sz="1400" dirty="0">
                <a:solidFill>
                  <a:srgbClr val="6B6B6B"/>
                </a:solidFill>
                <a:latin typeface="Meiryo" pitchFamily="34" charset="0"/>
                <a:ea typeface="Meiryo" pitchFamily="34" charset="-122"/>
                <a:cs typeface="Meiryo" pitchFamily="34" charset="-120"/>
              </a:rPr>
              <a:t>農家・牧場・リサイクル</a:t>
            </a:r>
            <a:endParaRPr lang="en-US" sz="1400" dirty="0"/>
          </a:p>
        </p:txBody>
      </p:sp>
      <p:sp>
        <p:nvSpPr>
          <p:cNvPr id="22" name="Shape 20"/>
          <p:cNvSpPr/>
          <p:nvPr/>
        </p:nvSpPr>
        <p:spPr>
          <a:xfrm>
            <a:off x="6217920" y="3931920"/>
            <a:ext cx="2651760" cy="2103120"/>
          </a:xfrm>
          <a:prstGeom prst="roundRect">
            <a:avLst>
              <a:gd name="adj" fmla="val 8696"/>
            </a:avLst>
          </a:prstGeom>
          <a:solidFill>
            <a:srgbClr val="F1F7F3"/>
          </a:solidFill>
          <a:ln w="12700">
            <a:solidFill>
              <a:srgbClr val="F1F7F3"/>
            </a:solidFill>
            <a:prstDash val="solid"/>
          </a:ln>
        </p:spPr>
      </p:sp>
      <p:sp>
        <p:nvSpPr>
          <p:cNvPr id="23" name="Text 21"/>
          <p:cNvSpPr txBox="1"/>
          <p:nvPr/>
        </p:nvSpPr>
        <p:spPr>
          <a:xfrm>
            <a:off x="6355080" y="4343400"/>
            <a:ext cx="2377440" cy="731520"/>
          </a:xfrm>
          <a:prstGeom prst="rect">
            <a:avLst/>
          </a:prstGeom>
          <a:noFill/>
          <a:ln/>
        </p:spPr>
        <p:txBody>
          <a:bodyPr wrap="square" lIns="0" tIns="0" rIns="0" bIns="0" rtlCol="0" anchor="ctr"/>
          <a:lstStyle/>
          <a:p>
            <a:pPr algn="ctr" indent="0" marL="0">
              <a:buNone/>
            </a:pPr>
            <a:r>
              <a:rPr lang="en-US" sz="1800" b="1" dirty="0">
                <a:solidFill>
                  <a:srgbClr val="7B5EA7"/>
                </a:solidFill>
                <a:latin typeface="Meiryo" pitchFamily="34" charset="0"/>
                <a:ea typeface="Meiryo" pitchFamily="34" charset="-122"/>
                <a:cs typeface="Meiryo" pitchFamily="34" charset="-120"/>
              </a:rPr>
              <a:t>人と話す仕事</a:t>
            </a:r>
            <a:endParaRPr lang="en-US" sz="1800" dirty="0"/>
          </a:p>
        </p:txBody>
      </p:sp>
      <p:sp>
        <p:nvSpPr>
          <p:cNvPr id="24" name="Text 22"/>
          <p:cNvSpPr txBox="1"/>
          <p:nvPr/>
        </p:nvSpPr>
        <p:spPr>
          <a:xfrm>
            <a:off x="6355080" y="5166360"/>
            <a:ext cx="2377440" cy="640080"/>
          </a:xfrm>
          <a:prstGeom prst="rect">
            <a:avLst/>
          </a:prstGeom>
          <a:noFill/>
          <a:ln/>
        </p:spPr>
        <p:txBody>
          <a:bodyPr wrap="square" lIns="0" tIns="0" rIns="0" bIns="0" rtlCol="0" anchor="ctr"/>
          <a:lstStyle/>
          <a:p>
            <a:pPr algn="ctr" indent="0" marL="0">
              <a:buNone/>
            </a:pPr>
            <a:r>
              <a:rPr lang="en-US" sz="1400" dirty="0">
                <a:solidFill>
                  <a:srgbClr val="6B6B6B"/>
                </a:solidFill>
                <a:latin typeface="Meiryo" pitchFamily="34" charset="0"/>
                <a:ea typeface="Meiryo" pitchFamily="34" charset="-122"/>
                <a:cs typeface="Meiryo" pitchFamily="34" charset="-120"/>
              </a:rPr>
              <a:t>お店・市役所・学校の先生</a:t>
            </a:r>
            <a:endParaRPr lang="en-US" sz="1400" dirty="0"/>
          </a:p>
        </p:txBody>
      </p:sp>
      <p:sp>
        <p:nvSpPr>
          <p:cNvPr id="25" name="Shape 23"/>
          <p:cNvSpPr/>
          <p:nvPr/>
        </p:nvSpPr>
        <p:spPr>
          <a:xfrm>
            <a:off x="9052560" y="3931920"/>
            <a:ext cx="2651760" cy="2103120"/>
          </a:xfrm>
          <a:prstGeom prst="roundRect">
            <a:avLst>
              <a:gd name="adj" fmla="val 8696"/>
            </a:avLst>
          </a:prstGeom>
          <a:solidFill>
            <a:srgbClr val="F1F7F3"/>
          </a:solidFill>
          <a:ln w="12700">
            <a:solidFill>
              <a:srgbClr val="F1F7F3"/>
            </a:solidFill>
            <a:prstDash val="solid"/>
          </a:ln>
        </p:spPr>
      </p:sp>
      <p:sp>
        <p:nvSpPr>
          <p:cNvPr id="26" name="Text 24"/>
          <p:cNvSpPr txBox="1"/>
          <p:nvPr/>
        </p:nvSpPr>
        <p:spPr>
          <a:xfrm>
            <a:off x="9189720" y="4343400"/>
            <a:ext cx="2377440" cy="731520"/>
          </a:xfrm>
          <a:prstGeom prst="rect">
            <a:avLst/>
          </a:prstGeom>
          <a:noFill/>
          <a:ln/>
        </p:spPr>
        <p:txBody>
          <a:bodyPr wrap="square" lIns="0" tIns="0" rIns="0" bIns="0" rtlCol="0" anchor="ctr"/>
          <a:lstStyle/>
          <a:p>
            <a:pPr algn="ctr" indent="0" marL="0">
              <a:buNone/>
            </a:pPr>
            <a:r>
              <a:rPr lang="en-US" sz="1800" b="1" dirty="0">
                <a:solidFill>
                  <a:srgbClr val="5C6B73"/>
                </a:solidFill>
                <a:latin typeface="Meiryo" pitchFamily="34" charset="0"/>
                <a:ea typeface="Meiryo" pitchFamily="34" charset="-122"/>
                <a:cs typeface="Meiryo" pitchFamily="34" charset="-120"/>
              </a:rPr>
              <a:t>会社を支える仕事</a:t>
            </a:r>
            <a:endParaRPr lang="en-US" sz="1800" dirty="0"/>
          </a:p>
        </p:txBody>
      </p:sp>
      <p:sp>
        <p:nvSpPr>
          <p:cNvPr id="27" name="Text 25"/>
          <p:cNvSpPr txBox="1"/>
          <p:nvPr/>
        </p:nvSpPr>
        <p:spPr>
          <a:xfrm>
            <a:off x="9189720" y="5166360"/>
            <a:ext cx="2377440" cy="640080"/>
          </a:xfrm>
          <a:prstGeom prst="rect">
            <a:avLst/>
          </a:prstGeom>
          <a:noFill/>
          <a:ln/>
        </p:spPr>
        <p:txBody>
          <a:bodyPr wrap="square" lIns="0" tIns="0" rIns="0" bIns="0" rtlCol="0" anchor="ctr"/>
          <a:lstStyle/>
          <a:p>
            <a:pPr algn="ctr" indent="0" marL="0">
              <a:buNone/>
            </a:pPr>
            <a:r>
              <a:rPr lang="en-US" sz="1400" dirty="0">
                <a:solidFill>
                  <a:srgbClr val="6B6B6B"/>
                </a:solidFill>
                <a:latin typeface="Meiryo" pitchFamily="34" charset="0"/>
                <a:ea typeface="Meiryo" pitchFamily="34" charset="-122"/>
                <a:cs typeface="Meiryo" pitchFamily="34" charset="-120"/>
              </a:rPr>
              <a:t>事務・お金の計算・電話対応</a:t>
            </a:r>
            <a:endParaRPr lang="en-US" sz="1400" dirty="0"/>
          </a:p>
        </p:txBody>
      </p:sp>
      <p:sp>
        <p:nvSpPr>
          <p:cNvPr id="28" name="Text 26"/>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AAAAA"/>
                </a:solidFill>
                <a:latin typeface="Meiryo" pitchFamily="34" charset="0"/>
                <a:ea typeface="Meiryo" pitchFamily="34" charset="-122"/>
                <a:cs typeface="Meiryo"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914400"/>
          </a:xfrm>
          <a:prstGeom prst="rect">
            <a:avLst/>
          </a:prstGeom>
          <a:noFill/>
          <a:ln/>
        </p:spPr>
        <p:txBody>
          <a:bodyPr wrap="square" lIns="0" tIns="0" rIns="0" bIns="0" rtlCol="0" anchor="ctr"/>
          <a:lstStyle/>
          <a:p>
            <a:pPr algn="l" indent="0" marL="0">
              <a:buNone/>
            </a:pPr>
            <a:r>
              <a:rPr lang="en-US" sz="3600" b="1" dirty="0">
                <a:solidFill>
                  <a:srgbClr val="1B5E3A"/>
                </a:solidFill>
                <a:latin typeface="Meiryo" pitchFamily="34" charset="0"/>
                <a:ea typeface="Meiryo" pitchFamily="34" charset="-122"/>
                <a:cs typeface="Meiryo" pitchFamily="34" charset="-120"/>
              </a:rPr>
              <a:t>士別のまちの人の数は？</a:t>
            </a:r>
            <a:endParaRPr lang="en-US" sz="3600" dirty="0"/>
          </a:p>
        </p:txBody>
      </p:sp>
      <p:graphicFrame>
        <p:nvGraphicFramePr>
          <p:cNvPr id="3" name="Chart 0" descr=""/>
          <p:cNvGraphicFramePr/>
          <p:nvPr/>
        </p:nvGraphicFramePr>
        <p:xfrm>
          <a:off x="548640" y="1371600"/>
          <a:ext cx="6583680" cy="47548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589520" y="1371600"/>
            <a:ext cx="4023360" cy="2377440"/>
          </a:xfrm>
          <a:prstGeom prst="roundRect">
            <a:avLst>
              <a:gd name="adj" fmla="val 9615"/>
            </a:avLst>
          </a:prstGeom>
          <a:solidFill>
            <a:srgbClr val="F1F7F3"/>
          </a:solidFill>
          <a:ln w="12700">
            <a:solidFill>
              <a:srgbClr val="F1F7F3"/>
            </a:solidFill>
            <a:prstDash val="solid"/>
          </a:ln>
        </p:spPr>
      </p:sp>
      <p:sp>
        <p:nvSpPr>
          <p:cNvPr id="5" name="Text 2"/>
          <p:cNvSpPr txBox="1"/>
          <p:nvPr/>
        </p:nvSpPr>
        <p:spPr>
          <a:xfrm>
            <a:off x="7863840" y="1371600"/>
            <a:ext cx="3474720" cy="2377440"/>
          </a:xfrm>
          <a:prstGeom prst="rect">
            <a:avLst/>
          </a:prstGeom>
          <a:noFill/>
          <a:ln/>
        </p:spPr>
        <p:txBody>
          <a:bodyPr wrap="square" lIns="0" tIns="0" rIns="0" bIns="0" rtlCol="0" anchor="ctr"/>
          <a:lstStyle/>
          <a:p>
            <a:pPr indent="0" marL="0">
              <a:buNone/>
            </a:pPr>
            <a:r>
              <a:rPr lang="en-US" sz="1700" dirty="0">
                <a:solidFill>
                  <a:srgbClr val="2B2B2B"/>
                </a:solidFill>
                <a:latin typeface="Meiryo" pitchFamily="34" charset="0"/>
                <a:ea typeface="Meiryo" pitchFamily="34" charset="-122"/>
                <a:cs typeface="Meiryo" pitchFamily="34" charset="-120"/>
              </a:rPr>
              <a:t>10年で、約4,000人減りました。</a:t>
            </a:r>
            <a:endParaRPr lang="en-US" sz="1700" dirty="0"/>
          </a:p>
          <a:p>
            <a:pPr indent="0" marL="0">
              <a:buNone/>
            </a:pPr>
            <a:r>
              <a:rPr lang="en-US" sz="1700" dirty="0">
                <a:solidFill>
                  <a:srgbClr val="2B2B2B"/>
                </a:solidFill>
                <a:latin typeface="Meiryo" pitchFamily="34" charset="0"/>
                <a:ea typeface="Meiryo" pitchFamily="34" charset="-122"/>
                <a:cs typeface="Meiryo" pitchFamily="34" charset="-120"/>
              </a:rPr>
              <a:t>このままだと、みんなが大人になるころには、今の半分くらいになると言われています。</a:t>
            </a:r>
            <a:endParaRPr lang="en-US" sz="1700" dirty="0"/>
          </a:p>
        </p:txBody>
      </p:sp>
      <p:sp>
        <p:nvSpPr>
          <p:cNvPr id="6" name="Shape 3"/>
          <p:cNvSpPr/>
          <p:nvPr/>
        </p:nvSpPr>
        <p:spPr>
          <a:xfrm>
            <a:off x="7589520" y="4023360"/>
            <a:ext cx="4023360" cy="1554480"/>
          </a:xfrm>
          <a:prstGeom prst="roundRect">
            <a:avLst>
              <a:gd name="adj" fmla="val 14706"/>
            </a:avLst>
          </a:prstGeom>
          <a:solidFill>
            <a:srgbClr val="FFF6D6"/>
          </a:solidFill>
          <a:ln w="25400">
            <a:solidFill>
              <a:srgbClr val="FFC933"/>
            </a:solidFill>
            <a:prstDash val="solid"/>
          </a:ln>
        </p:spPr>
      </p:sp>
      <p:sp>
        <p:nvSpPr>
          <p:cNvPr id="7" name="Text 4"/>
          <p:cNvSpPr txBox="1"/>
          <p:nvPr/>
        </p:nvSpPr>
        <p:spPr>
          <a:xfrm>
            <a:off x="7863840" y="4023360"/>
            <a:ext cx="3474720" cy="1554480"/>
          </a:xfrm>
          <a:prstGeom prst="rect">
            <a:avLst/>
          </a:prstGeom>
          <a:noFill/>
          <a:ln/>
        </p:spPr>
        <p:txBody>
          <a:bodyPr wrap="square" lIns="0" tIns="0" rIns="0" bIns="0" rtlCol="0" anchor="ctr"/>
          <a:lstStyle/>
          <a:p>
            <a:pPr algn="l" indent="0" marL="0">
              <a:buNone/>
            </a:pPr>
            <a:r>
              <a:rPr lang="en-US" sz="2400" b="1" dirty="0">
                <a:solidFill>
                  <a:srgbClr val="F28B30"/>
                </a:solidFill>
                <a:latin typeface="Meiryo" pitchFamily="34" charset="0"/>
                <a:ea typeface="Meiryo" pitchFamily="34" charset="-122"/>
                <a:cs typeface="Meiryo" pitchFamily="34" charset="-120"/>
              </a:rPr>
              <a:t>？ </a:t>
            </a:r>
            <a:pPr algn="l" indent="0" marL="0">
              <a:buNone/>
            </a:pPr>
            <a:r>
              <a:rPr lang="en-US" sz="2000" b="1" dirty="0">
                <a:solidFill>
                  <a:srgbClr val="2B2B2B"/>
                </a:solidFill>
                <a:latin typeface="Meiryo" pitchFamily="34" charset="0"/>
                <a:ea typeface="Meiryo" pitchFamily="34" charset="-122"/>
                <a:cs typeface="Meiryo" pitchFamily="34" charset="-120"/>
              </a:rPr>
              <a:t>人が少なくなると、</a:t>
            </a:r>
            <a:endParaRPr lang="en-US" sz="2000" dirty="0"/>
          </a:p>
          <a:p>
            <a:pPr algn="l" indent="0" marL="0">
              <a:buNone/>
            </a:pPr>
            <a:r>
              <a:rPr lang="en-US" sz="2000" b="1" dirty="0">
                <a:solidFill>
                  <a:srgbClr val="2B2B2B"/>
                </a:solidFill>
                <a:latin typeface="Meiryo" pitchFamily="34" charset="0"/>
                <a:ea typeface="Meiryo" pitchFamily="34" charset="-122"/>
                <a:cs typeface="Meiryo" pitchFamily="34" charset="-120"/>
              </a:rPr>
              <a:t>どんなことが困るかな？</a:t>
            </a:r>
            <a:endParaRPr lang="en-US" sz="2000" dirty="0"/>
          </a:p>
        </p:txBody>
      </p:sp>
      <p:sp>
        <p:nvSpPr>
          <p:cNvPr id="8" name="Shape 5">
            <a:hlinkClick r:id="rId2" tooltip="アプリを開く"/>
          </p:cNvPr>
          <p:cNvSpPr/>
          <p:nvPr/>
        </p:nvSpPr>
        <p:spPr>
          <a:xfrm>
            <a:off x="8138160" y="5760720"/>
            <a:ext cx="2926080" cy="548640"/>
          </a:xfrm>
          <a:prstGeom prst="roundRect">
            <a:avLst>
              <a:gd name="adj" fmla="val 50000"/>
            </a:avLst>
          </a:prstGeom>
          <a:solidFill>
            <a:srgbClr val="2F80C3"/>
          </a:solidFill>
          <a:ln w="12700">
            <a:solidFill>
              <a:srgbClr val="2F80C3"/>
            </a:solidFill>
            <a:prstDash val="solid"/>
          </a:ln>
        </p:spPr>
      </p:sp>
      <p:sp>
        <p:nvSpPr>
          <p:cNvPr id="9" name="Text 6">
            <a:hlinkClick r:id="rId3" tooltip=""/>
          </p:cNvPr>
          <p:cNvSpPr txBox="1"/>
          <p:nvPr/>
        </p:nvSpPr>
        <p:spPr>
          <a:xfrm>
            <a:off x="8138160" y="5760720"/>
            <a:ext cx="2926080" cy="548640"/>
          </a:xfrm>
          <a:prstGeom prst="rect">
            <a:avLst/>
          </a:prstGeom>
          <a:noFill/>
          <a:ln/>
        </p:spPr>
        <p:txBody>
          <a:bodyPr wrap="square" lIns="0" tIns="0" rIns="0" bIns="0" rtlCol="0" anchor="ctr"/>
          <a:lstStyle/>
          <a:p>
            <a:pPr algn="ctr" indent="0" marL="0">
              <a:buNone/>
            </a:pPr>
            <a:r>
              <a:rPr lang="en-US" sz="1600" b="1" u="sng" dirty="0">
                <a:solidFill>
                  <a:srgbClr val="FFFFFF"/>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 アプリ：人の数のうごき</a:t>
            </a:r>
            <a:endParaRPr lang="en-US" sz="1600" dirty="0"/>
          </a:p>
        </p:txBody>
      </p:sp>
      <p:sp>
        <p:nvSpPr>
          <p:cNvPr id="10" name="Text 7"/>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AAAAA"/>
                </a:solidFill>
                <a:latin typeface="Meiryo" pitchFamily="34" charset="0"/>
                <a:ea typeface="Meiryo" pitchFamily="34" charset="-122"/>
                <a:cs typeface="Meiryo"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3FB"/>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914400"/>
          </a:xfrm>
          <a:prstGeom prst="rect">
            <a:avLst/>
          </a:prstGeom>
          <a:noFill/>
          <a:ln/>
        </p:spPr>
        <p:txBody>
          <a:bodyPr wrap="square" lIns="0" tIns="0" rIns="0" bIns="0" rtlCol="0" anchor="ctr"/>
          <a:lstStyle/>
          <a:p>
            <a:pPr algn="l" indent="0" marL="0">
              <a:buNone/>
            </a:pPr>
            <a:r>
              <a:rPr lang="en-US" sz="3600" b="1" dirty="0">
                <a:solidFill>
                  <a:srgbClr val="1B5E3A"/>
                </a:solidFill>
                <a:latin typeface="Meiryo" pitchFamily="34" charset="0"/>
                <a:ea typeface="Meiryo" pitchFamily="34" charset="-122"/>
                <a:cs typeface="Meiryo" pitchFamily="34" charset="-120"/>
              </a:rPr>
              <a:t>仕事を選ぶとき、何を大切にしたい？</a:t>
            </a:r>
            <a:endParaRPr lang="en-US" sz="3600" dirty="0"/>
          </a:p>
        </p:txBody>
      </p:sp>
      <p:sp>
        <p:nvSpPr>
          <p:cNvPr id="3" name="Shape 1"/>
          <p:cNvSpPr/>
          <p:nvPr/>
        </p:nvSpPr>
        <p:spPr>
          <a:xfrm>
            <a:off x="548640" y="1463040"/>
            <a:ext cx="3566160" cy="1371600"/>
          </a:xfrm>
          <a:prstGeom prst="roundRect">
            <a:avLst>
              <a:gd name="adj" fmla="val 50000"/>
            </a:avLst>
          </a:prstGeom>
          <a:solidFill>
            <a:srgbClr val="FFFFFF"/>
          </a:solidFill>
          <a:ln w="12700">
            <a:solidFill>
              <a:srgbClr val="FFFFFF"/>
            </a:solidFill>
            <a:prstDash val="solid"/>
          </a:ln>
        </p:spPr>
      </p:sp>
      <p:sp>
        <p:nvSpPr>
          <p:cNvPr id="4" name="Text 2"/>
          <p:cNvSpPr txBox="1"/>
          <p:nvPr/>
        </p:nvSpPr>
        <p:spPr>
          <a:xfrm>
            <a:off x="914400" y="1463040"/>
            <a:ext cx="2834640" cy="1371600"/>
          </a:xfrm>
          <a:prstGeom prst="rect">
            <a:avLst/>
          </a:prstGeom>
          <a:noFill/>
          <a:ln/>
        </p:spPr>
        <p:txBody>
          <a:bodyPr wrap="square" lIns="0" tIns="0" rIns="0" bIns="0" rtlCol="0" anchor="ctr"/>
          <a:lstStyle/>
          <a:p>
            <a:pPr algn="ctr" indent="0" marL="0">
              <a:buNone/>
            </a:pPr>
            <a:r>
              <a:rPr lang="en-US" sz="1800" b="1" dirty="0">
                <a:solidFill>
                  <a:srgbClr val="2B2B2B"/>
                </a:solidFill>
                <a:latin typeface="Meiryo" pitchFamily="34" charset="0"/>
                <a:ea typeface="Meiryo" pitchFamily="34" charset="-122"/>
                <a:cs typeface="Meiryo" pitchFamily="34" charset="-120"/>
              </a:rPr>
              <a:t>人の役に立ちたい</a:t>
            </a:r>
            <a:endParaRPr lang="en-US" sz="1800" dirty="0"/>
          </a:p>
        </p:txBody>
      </p:sp>
      <p:sp>
        <p:nvSpPr>
          <p:cNvPr id="5" name="Shape 3"/>
          <p:cNvSpPr/>
          <p:nvPr/>
        </p:nvSpPr>
        <p:spPr>
          <a:xfrm>
            <a:off x="4297680" y="1463040"/>
            <a:ext cx="3566160" cy="1371600"/>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4663440" y="1463040"/>
            <a:ext cx="2834640" cy="1371600"/>
          </a:xfrm>
          <a:prstGeom prst="rect">
            <a:avLst/>
          </a:prstGeom>
          <a:noFill/>
          <a:ln/>
        </p:spPr>
        <p:txBody>
          <a:bodyPr wrap="square" lIns="0" tIns="0" rIns="0" bIns="0" rtlCol="0" anchor="ctr"/>
          <a:lstStyle/>
          <a:p>
            <a:pPr algn="ctr" indent="0" marL="0">
              <a:buNone/>
            </a:pPr>
            <a:r>
              <a:rPr lang="en-US" sz="1800" b="1" dirty="0">
                <a:solidFill>
                  <a:srgbClr val="2B2B2B"/>
                </a:solidFill>
                <a:latin typeface="Meiryo" pitchFamily="34" charset="0"/>
                <a:ea typeface="Meiryo" pitchFamily="34" charset="-122"/>
                <a:cs typeface="Meiryo" pitchFamily="34" charset="-120"/>
              </a:rPr>
              <a:t>好きなことを仕事にしたい</a:t>
            </a:r>
            <a:endParaRPr lang="en-US" sz="1800" dirty="0"/>
          </a:p>
        </p:txBody>
      </p:sp>
      <p:sp>
        <p:nvSpPr>
          <p:cNvPr id="7" name="Shape 5"/>
          <p:cNvSpPr/>
          <p:nvPr/>
        </p:nvSpPr>
        <p:spPr>
          <a:xfrm>
            <a:off x="8046720" y="1463040"/>
            <a:ext cx="3566160" cy="1371600"/>
          </a:xfrm>
          <a:prstGeom prst="roundRect">
            <a:avLst>
              <a:gd name="adj" fmla="val 50000"/>
            </a:avLst>
          </a:prstGeom>
          <a:solidFill>
            <a:srgbClr val="FFFFFF"/>
          </a:solidFill>
          <a:ln w="12700">
            <a:solidFill>
              <a:srgbClr val="FFFFFF"/>
            </a:solidFill>
            <a:prstDash val="solid"/>
          </a:ln>
        </p:spPr>
      </p:sp>
      <p:sp>
        <p:nvSpPr>
          <p:cNvPr id="8" name="Text 6"/>
          <p:cNvSpPr txBox="1"/>
          <p:nvPr/>
        </p:nvSpPr>
        <p:spPr>
          <a:xfrm>
            <a:off x="8412480" y="1463040"/>
            <a:ext cx="2834640" cy="1371600"/>
          </a:xfrm>
          <a:prstGeom prst="rect">
            <a:avLst/>
          </a:prstGeom>
          <a:noFill/>
          <a:ln/>
        </p:spPr>
        <p:txBody>
          <a:bodyPr wrap="square" lIns="0" tIns="0" rIns="0" bIns="0" rtlCol="0" anchor="ctr"/>
          <a:lstStyle/>
          <a:p>
            <a:pPr algn="ctr" indent="0" marL="0">
              <a:buNone/>
            </a:pPr>
            <a:r>
              <a:rPr lang="en-US" sz="1800" b="1" dirty="0">
                <a:solidFill>
                  <a:srgbClr val="2B2B2B"/>
                </a:solidFill>
                <a:latin typeface="Meiryo" pitchFamily="34" charset="0"/>
                <a:ea typeface="Meiryo" pitchFamily="34" charset="-122"/>
                <a:cs typeface="Meiryo" pitchFamily="34" charset="-120"/>
              </a:rPr>
              <a:t>機械を動かしたい</a:t>
            </a:r>
            <a:endParaRPr lang="en-US" sz="1800" dirty="0"/>
          </a:p>
        </p:txBody>
      </p:sp>
      <p:sp>
        <p:nvSpPr>
          <p:cNvPr id="9" name="Shape 7"/>
          <p:cNvSpPr/>
          <p:nvPr/>
        </p:nvSpPr>
        <p:spPr>
          <a:xfrm>
            <a:off x="548640" y="3063240"/>
            <a:ext cx="3566160" cy="1371600"/>
          </a:xfrm>
          <a:prstGeom prst="roundRect">
            <a:avLst>
              <a:gd name="adj" fmla="val 50000"/>
            </a:avLst>
          </a:prstGeom>
          <a:solidFill>
            <a:srgbClr val="FFFFFF"/>
          </a:solidFill>
          <a:ln w="12700">
            <a:solidFill>
              <a:srgbClr val="FFFFFF"/>
            </a:solidFill>
            <a:prstDash val="solid"/>
          </a:ln>
        </p:spPr>
      </p:sp>
      <p:sp>
        <p:nvSpPr>
          <p:cNvPr id="10" name="Text 8"/>
          <p:cNvSpPr txBox="1"/>
          <p:nvPr/>
        </p:nvSpPr>
        <p:spPr>
          <a:xfrm>
            <a:off x="914400" y="3063240"/>
            <a:ext cx="2834640" cy="1371600"/>
          </a:xfrm>
          <a:prstGeom prst="rect">
            <a:avLst/>
          </a:prstGeom>
          <a:noFill/>
          <a:ln/>
        </p:spPr>
        <p:txBody>
          <a:bodyPr wrap="square" lIns="0" tIns="0" rIns="0" bIns="0" rtlCol="0" anchor="ctr"/>
          <a:lstStyle/>
          <a:p>
            <a:pPr algn="ctr" indent="0" marL="0">
              <a:buNone/>
            </a:pPr>
            <a:r>
              <a:rPr lang="en-US" sz="1800" b="1" dirty="0">
                <a:solidFill>
                  <a:srgbClr val="2B2B2B"/>
                </a:solidFill>
                <a:latin typeface="Meiryo" pitchFamily="34" charset="0"/>
                <a:ea typeface="Meiryo" pitchFamily="34" charset="-122"/>
                <a:cs typeface="Meiryo" pitchFamily="34" charset="-120"/>
              </a:rPr>
              <a:t>外で働きたい</a:t>
            </a:r>
            <a:endParaRPr lang="en-US" sz="1800" dirty="0"/>
          </a:p>
        </p:txBody>
      </p:sp>
      <p:sp>
        <p:nvSpPr>
          <p:cNvPr id="11" name="Shape 9"/>
          <p:cNvSpPr/>
          <p:nvPr/>
        </p:nvSpPr>
        <p:spPr>
          <a:xfrm>
            <a:off x="4297680" y="3063240"/>
            <a:ext cx="3566160" cy="1371600"/>
          </a:xfrm>
          <a:prstGeom prst="roundRect">
            <a:avLst>
              <a:gd name="adj" fmla="val 50000"/>
            </a:avLst>
          </a:prstGeom>
          <a:solidFill>
            <a:srgbClr val="FFFFFF"/>
          </a:solidFill>
          <a:ln w="12700">
            <a:solidFill>
              <a:srgbClr val="FFFFFF"/>
            </a:solidFill>
            <a:prstDash val="solid"/>
          </a:ln>
        </p:spPr>
      </p:sp>
      <p:sp>
        <p:nvSpPr>
          <p:cNvPr id="12" name="Text 10"/>
          <p:cNvSpPr txBox="1"/>
          <p:nvPr/>
        </p:nvSpPr>
        <p:spPr>
          <a:xfrm>
            <a:off x="4663440" y="3063240"/>
            <a:ext cx="2834640" cy="1371600"/>
          </a:xfrm>
          <a:prstGeom prst="rect">
            <a:avLst/>
          </a:prstGeom>
          <a:noFill/>
          <a:ln/>
        </p:spPr>
        <p:txBody>
          <a:bodyPr wrap="square" lIns="0" tIns="0" rIns="0" bIns="0" rtlCol="0" anchor="ctr"/>
          <a:lstStyle/>
          <a:p>
            <a:pPr algn="ctr" indent="0" marL="0">
              <a:buNone/>
            </a:pPr>
            <a:r>
              <a:rPr lang="en-US" sz="1800" b="1" dirty="0">
                <a:solidFill>
                  <a:srgbClr val="2B2B2B"/>
                </a:solidFill>
                <a:latin typeface="Meiryo" pitchFamily="34" charset="0"/>
                <a:ea typeface="Meiryo" pitchFamily="34" charset="-122"/>
                <a:cs typeface="Meiryo" pitchFamily="34" charset="-120"/>
              </a:rPr>
              <a:t>士別で働きたい</a:t>
            </a:r>
            <a:endParaRPr lang="en-US" sz="1800" dirty="0"/>
          </a:p>
        </p:txBody>
      </p:sp>
      <p:sp>
        <p:nvSpPr>
          <p:cNvPr id="13" name="Shape 11"/>
          <p:cNvSpPr/>
          <p:nvPr/>
        </p:nvSpPr>
        <p:spPr>
          <a:xfrm>
            <a:off x="8046720" y="3063240"/>
            <a:ext cx="3566160" cy="1371600"/>
          </a:xfrm>
          <a:prstGeom prst="roundRect">
            <a:avLst>
              <a:gd name="adj" fmla="val 50000"/>
            </a:avLst>
          </a:prstGeom>
          <a:solidFill>
            <a:srgbClr val="FFFFFF"/>
          </a:solidFill>
          <a:ln w="12700">
            <a:solidFill>
              <a:srgbClr val="FFFFFF"/>
            </a:solidFill>
            <a:prstDash val="solid"/>
          </a:ln>
        </p:spPr>
      </p:sp>
      <p:sp>
        <p:nvSpPr>
          <p:cNvPr id="14" name="Text 12"/>
          <p:cNvSpPr txBox="1"/>
          <p:nvPr/>
        </p:nvSpPr>
        <p:spPr>
          <a:xfrm>
            <a:off x="8412480" y="3063240"/>
            <a:ext cx="2834640" cy="1371600"/>
          </a:xfrm>
          <a:prstGeom prst="rect">
            <a:avLst/>
          </a:prstGeom>
          <a:noFill/>
          <a:ln/>
        </p:spPr>
        <p:txBody>
          <a:bodyPr wrap="square" lIns="0" tIns="0" rIns="0" bIns="0" rtlCol="0" anchor="ctr"/>
          <a:lstStyle/>
          <a:p>
            <a:pPr algn="ctr" indent="0" marL="0">
              <a:buNone/>
            </a:pPr>
            <a:r>
              <a:rPr lang="en-US" sz="1800" b="1" dirty="0">
                <a:solidFill>
                  <a:srgbClr val="2B2B2B"/>
                </a:solidFill>
                <a:latin typeface="Meiryo" pitchFamily="34" charset="0"/>
                <a:ea typeface="Meiryo" pitchFamily="34" charset="-122"/>
                <a:cs typeface="Meiryo" pitchFamily="34" charset="-120"/>
              </a:rPr>
              <a:t>環境を守りたい</a:t>
            </a:r>
            <a:endParaRPr lang="en-US" sz="1800" dirty="0"/>
          </a:p>
        </p:txBody>
      </p:sp>
      <p:sp>
        <p:nvSpPr>
          <p:cNvPr id="15" name="Text 13"/>
          <p:cNvSpPr txBox="1"/>
          <p:nvPr/>
        </p:nvSpPr>
        <p:spPr>
          <a:xfrm>
            <a:off x="548640" y="4846320"/>
            <a:ext cx="11091672" cy="457200"/>
          </a:xfrm>
          <a:prstGeom prst="rect">
            <a:avLst/>
          </a:prstGeom>
          <a:noFill/>
          <a:ln/>
        </p:spPr>
        <p:txBody>
          <a:bodyPr wrap="square" lIns="0" tIns="0" rIns="0" bIns="0" rtlCol="0" anchor="ctr"/>
          <a:lstStyle/>
          <a:p>
            <a:pPr algn="ctr" indent="0" marL="0">
              <a:buNone/>
            </a:pPr>
            <a:r>
              <a:rPr lang="en-US" sz="1800" dirty="0">
                <a:solidFill>
                  <a:srgbClr val="6B6B6B"/>
                </a:solidFill>
                <a:latin typeface="Meiryo" pitchFamily="34" charset="0"/>
                <a:ea typeface="Meiryo" pitchFamily="34" charset="-122"/>
                <a:cs typeface="Meiryo" pitchFamily="34" charset="-120"/>
              </a:rPr>
              <a:t>正解はありません。自分の気持ちで考えてみよう。</a:t>
            </a:r>
            <a:endParaRPr lang="en-US" sz="1800" dirty="0"/>
          </a:p>
        </p:txBody>
      </p:sp>
      <p:sp>
        <p:nvSpPr>
          <p:cNvPr id="16" name="Shape 14"/>
          <p:cNvSpPr/>
          <p:nvPr/>
        </p:nvSpPr>
        <p:spPr>
          <a:xfrm>
            <a:off x="548640" y="5394960"/>
            <a:ext cx="7863840" cy="914400"/>
          </a:xfrm>
          <a:prstGeom prst="roundRect">
            <a:avLst>
              <a:gd name="adj" fmla="val 25000"/>
            </a:avLst>
          </a:prstGeom>
          <a:solidFill>
            <a:srgbClr val="FFF6D6"/>
          </a:solidFill>
          <a:ln w="25400">
            <a:solidFill>
              <a:srgbClr val="FFC933"/>
            </a:solidFill>
            <a:prstDash val="solid"/>
          </a:ln>
        </p:spPr>
      </p:sp>
      <p:sp>
        <p:nvSpPr>
          <p:cNvPr id="17" name="Text 15"/>
          <p:cNvSpPr txBox="1"/>
          <p:nvPr/>
        </p:nvSpPr>
        <p:spPr>
          <a:xfrm>
            <a:off x="822960" y="5394960"/>
            <a:ext cx="7315200" cy="914400"/>
          </a:xfrm>
          <a:prstGeom prst="rect">
            <a:avLst/>
          </a:prstGeom>
          <a:noFill/>
          <a:ln/>
        </p:spPr>
        <p:txBody>
          <a:bodyPr wrap="square" lIns="0" tIns="0" rIns="0" bIns="0" rtlCol="0" anchor="ctr"/>
          <a:lstStyle/>
          <a:p>
            <a:pPr algn="l" indent="0" marL="0">
              <a:buNone/>
            </a:pPr>
            <a:r>
              <a:rPr lang="en-US" sz="2600" b="1" dirty="0">
                <a:solidFill>
                  <a:srgbClr val="F28B30"/>
                </a:solidFill>
                <a:latin typeface="Meiryo" pitchFamily="34" charset="0"/>
                <a:ea typeface="Meiryo" pitchFamily="34" charset="-122"/>
                <a:cs typeface="Meiryo" pitchFamily="34" charset="-120"/>
              </a:rPr>
              <a:t>？ </a:t>
            </a:r>
            <a:pPr algn="l" indent="0" marL="0">
              <a:buNone/>
            </a:pPr>
            <a:r>
              <a:rPr lang="en-US" sz="2200" b="1" dirty="0">
                <a:solidFill>
                  <a:srgbClr val="2B2B2B"/>
                </a:solidFill>
                <a:latin typeface="Meiryo" pitchFamily="34" charset="0"/>
                <a:ea typeface="Meiryo" pitchFamily="34" charset="-122"/>
                <a:cs typeface="Meiryo" pitchFamily="34" charset="-120"/>
              </a:rPr>
              <a:t>あなたは、どれが近いですか？　ほかにもあるかな？</a:t>
            </a:r>
            <a:endParaRPr lang="en-US" sz="2200" dirty="0"/>
          </a:p>
        </p:txBody>
      </p:sp>
      <p:sp>
        <p:nvSpPr>
          <p:cNvPr id="18" name="Shape 16">
            <a:hlinkClick r:id="rId1" tooltip="アプリを開く"/>
          </p:cNvPr>
          <p:cNvSpPr/>
          <p:nvPr/>
        </p:nvSpPr>
        <p:spPr>
          <a:xfrm>
            <a:off x="8686800" y="5577840"/>
            <a:ext cx="2926080" cy="548640"/>
          </a:xfrm>
          <a:prstGeom prst="roundRect">
            <a:avLst>
              <a:gd name="adj" fmla="val 50000"/>
            </a:avLst>
          </a:prstGeom>
          <a:solidFill>
            <a:srgbClr val="2F80C3"/>
          </a:solidFill>
          <a:ln w="12700">
            <a:solidFill>
              <a:srgbClr val="2F80C3"/>
            </a:solidFill>
            <a:prstDash val="solid"/>
          </a:ln>
        </p:spPr>
      </p:sp>
      <p:sp>
        <p:nvSpPr>
          <p:cNvPr id="19" name="Text 17">
            <a:hlinkClick r:id="rId2" tooltip=""/>
          </p:cNvPr>
          <p:cNvSpPr txBox="1"/>
          <p:nvPr/>
        </p:nvSpPr>
        <p:spPr>
          <a:xfrm>
            <a:off x="8686800" y="5577840"/>
            <a:ext cx="2926080" cy="548640"/>
          </a:xfrm>
          <a:prstGeom prst="rect">
            <a:avLst/>
          </a:prstGeom>
          <a:noFill/>
          <a:ln/>
        </p:spPr>
        <p:txBody>
          <a:bodyPr wrap="square" lIns="0" tIns="0" rIns="0" bIns="0" rtlCol="0" anchor="ctr"/>
          <a:lstStyle/>
          <a:p>
            <a:pPr algn="ctr" indent="0" marL="0">
              <a:buNone/>
            </a:pPr>
            <a:r>
              <a:rPr lang="en-US" sz="1600" b="1" u="sng" dirty="0">
                <a:solidFill>
                  <a:srgbClr val="FFFFFF"/>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 アプリ：みんなの投票</a:t>
            </a:r>
            <a:endParaRPr lang="en-US" sz="1600" dirty="0"/>
          </a:p>
        </p:txBody>
      </p:sp>
      <p:sp>
        <p:nvSpPr>
          <p:cNvPr id="20" name="Text 18"/>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AAAAA"/>
                </a:solidFill>
                <a:latin typeface="Meiryo" pitchFamily="34" charset="0"/>
                <a:ea typeface="Meiryo" pitchFamily="34" charset="-122"/>
                <a:cs typeface="Meiryo"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914400"/>
          </a:xfrm>
          <a:prstGeom prst="rect">
            <a:avLst/>
          </a:prstGeom>
          <a:noFill/>
          <a:ln/>
        </p:spPr>
        <p:txBody>
          <a:bodyPr wrap="square" lIns="0" tIns="0" rIns="0" bIns="0" rtlCol="0" anchor="ctr"/>
          <a:lstStyle/>
          <a:p>
            <a:pPr algn="l" indent="0" marL="0">
              <a:buNone/>
            </a:pPr>
            <a:r>
              <a:rPr lang="en-US" sz="3600" b="1" dirty="0">
                <a:solidFill>
                  <a:srgbClr val="1B5E3A"/>
                </a:solidFill>
                <a:latin typeface="Meiryo" pitchFamily="34" charset="0"/>
                <a:ea typeface="Meiryo" pitchFamily="34" charset="-122"/>
                <a:cs typeface="Meiryo" pitchFamily="34" charset="-120"/>
              </a:rPr>
              <a:t>今日知った仕事も、将来の選択肢</a:t>
            </a:r>
            <a:endParaRPr lang="en-US" sz="3600" dirty="0"/>
          </a:p>
        </p:txBody>
      </p:sp>
      <p:sp>
        <p:nvSpPr>
          <p:cNvPr id="3" name="Shape 1"/>
          <p:cNvSpPr/>
          <p:nvPr/>
        </p:nvSpPr>
        <p:spPr>
          <a:xfrm>
            <a:off x="548640" y="1463040"/>
            <a:ext cx="4937760" cy="4663440"/>
          </a:xfrm>
          <a:prstGeom prst="roundRect">
            <a:avLst>
              <a:gd name="adj" fmla="val 3922"/>
            </a:avLst>
          </a:prstGeom>
          <a:solidFill>
            <a:srgbClr val="F3F6F4"/>
          </a:solidFill>
          <a:ln w="19050">
            <a:solidFill>
              <a:srgbClr val="B9C9BE"/>
            </a:solidFill>
            <a:prstDash val="dash"/>
          </a:ln>
        </p:spPr>
      </p:sp>
      <p:pic>
        <p:nvPicPr>
          <p:cNvPr id="4" name="Image 0" descr="preencoded.png">    </p:cNvPr>
          <p:cNvPicPr>
            <a:picLocks noChangeAspect="1"/>
          </p:cNvPicPr>
          <p:nvPr/>
        </p:nvPicPr>
        <p:blipFill>
          <a:blip r:embed="rId1"/>
          <a:stretch>
            <a:fillRect/>
          </a:stretch>
        </p:blipFill>
        <p:spPr>
          <a:xfrm>
            <a:off x="2364638" y="3004718"/>
            <a:ext cx="1305763" cy="1305763"/>
          </a:xfrm>
          <a:prstGeom prst="rect">
            <a:avLst/>
          </a:prstGeom>
        </p:spPr>
      </p:pic>
      <p:sp>
        <p:nvSpPr>
          <p:cNvPr id="5" name="Text 2"/>
          <p:cNvSpPr txBox="1"/>
          <p:nvPr/>
        </p:nvSpPr>
        <p:spPr>
          <a:xfrm>
            <a:off x="685800" y="4401922"/>
            <a:ext cx="4663440" cy="457200"/>
          </a:xfrm>
          <a:prstGeom prst="rect">
            <a:avLst/>
          </a:prstGeom>
          <a:noFill/>
          <a:ln/>
        </p:spPr>
        <p:txBody>
          <a:bodyPr wrap="square" lIns="0" tIns="0" rIns="0" bIns="0" rtlCol="0" anchor="t"/>
          <a:lstStyle/>
          <a:p>
            <a:pPr algn="ctr" indent="0" marL="0">
              <a:buNone/>
            </a:pPr>
            <a:r>
              <a:rPr lang="en-US" sz="1200" dirty="0">
                <a:solidFill>
                  <a:srgbClr val="7F9587"/>
                </a:solidFill>
                <a:latin typeface="Meiryo" pitchFamily="34" charset="0"/>
                <a:ea typeface="Meiryo" pitchFamily="34" charset="-122"/>
                <a:cs typeface="Meiryo" pitchFamily="34" charset="-120"/>
              </a:rPr>
              <a:t>写真：社員の笑顔・作業風景</a:t>
            </a:r>
            <a:endParaRPr lang="en-US" sz="1200" dirty="0"/>
          </a:p>
        </p:txBody>
      </p:sp>
      <p:sp>
        <p:nvSpPr>
          <p:cNvPr id="6" name="Shape 3"/>
          <p:cNvSpPr/>
          <p:nvPr/>
        </p:nvSpPr>
        <p:spPr>
          <a:xfrm>
            <a:off x="5943600" y="1463040"/>
            <a:ext cx="5669280" cy="4663440"/>
          </a:xfrm>
          <a:prstGeom prst="roundRect">
            <a:avLst>
              <a:gd name="adj" fmla="val 4902"/>
            </a:avLst>
          </a:prstGeom>
          <a:solidFill>
            <a:srgbClr val="F1F7F3"/>
          </a:solidFill>
          <a:ln w="12700">
            <a:solidFill>
              <a:srgbClr val="F1F7F3"/>
            </a:solidFill>
            <a:prstDash val="solid"/>
          </a:ln>
        </p:spPr>
      </p:sp>
      <p:sp>
        <p:nvSpPr>
          <p:cNvPr id="7" name="Text 4"/>
          <p:cNvSpPr txBox="1"/>
          <p:nvPr/>
        </p:nvSpPr>
        <p:spPr>
          <a:xfrm>
            <a:off x="6400800" y="2011680"/>
            <a:ext cx="4846320" cy="1463040"/>
          </a:xfrm>
          <a:prstGeom prst="rect">
            <a:avLst/>
          </a:prstGeom>
          <a:noFill/>
          <a:ln/>
        </p:spPr>
        <p:txBody>
          <a:bodyPr wrap="square" lIns="0" tIns="0" rIns="0" bIns="0" rtlCol="0" anchor="ctr"/>
          <a:lstStyle/>
          <a:p>
            <a:pPr indent="0" marL="0">
              <a:buNone/>
            </a:pPr>
            <a:r>
              <a:rPr lang="en-US" sz="2400" b="1" dirty="0">
                <a:solidFill>
                  <a:srgbClr val="2B2B2B"/>
                </a:solidFill>
                <a:latin typeface="Meiryo" pitchFamily="34" charset="0"/>
                <a:ea typeface="Meiryo" pitchFamily="34" charset="-122"/>
                <a:cs typeface="Meiryo" pitchFamily="34" charset="-120"/>
              </a:rPr>
              <a:t>仕事には、</a:t>
            </a:r>
            <a:endParaRPr lang="en-US" sz="2400" dirty="0"/>
          </a:p>
          <a:p>
            <a:pPr indent="0" marL="0">
              <a:buNone/>
            </a:pPr>
            <a:r>
              <a:rPr lang="en-US" sz="2400" b="1" dirty="0">
                <a:solidFill>
                  <a:srgbClr val="2B2B2B"/>
                </a:solidFill>
                <a:latin typeface="Meiryo" pitchFamily="34" charset="0"/>
                <a:ea typeface="Meiryo" pitchFamily="34" charset="-122"/>
                <a:cs typeface="Meiryo" pitchFamily="34" charset="-120"/>
              </a:rPr>
              <a:t>まだ知らないものが</a:t>
            </a:r>
            <a:endParaRPr lang="en-US" sz="2400" dirty="0"/>
          </a:p>
          <a:p>
            <a:pPr indent="0" marL="0">
              <a:buNone/>
            </a:pPr>
            <a:r>
              <a:rPr lang="en-US" sz="2400" b="1" dirty="0">
                <a:solidFill>
                  <a:srgbClr val="2B2B2B"/>
                </a:solidFill>
                <a:latin typeface="Meiryo" pitchFamily="34" charset="0"/>
                <a:ea typeface="Meiryo" pitchFamily="34" charset="-122"/>
                <a:cs typeface="Meiryo" pitchFamily="34" charset="-120"/>
              </a:rPr>
              <a:t>たくさんあります。</a:t>
            </a:r>
            <a:endParaRPr lang="en-US" sz="2400" dirty="0"/>
          </a:p>
        </p:txBody>
      </p:sp>
      <p:sp>
        <p:nvSpPr>
          <p:cNvPr id="8" name="Text 5"/>
          <p:cNvSpPr txBox="1"/>
          <p:nvPr/>
        </p:nvSpPr>
        <p:spPr>
          <a:xfrm>
            <a:off x="6400800" y="3749040"/>
            <a:ext cx="4846320" cy="1097280"/>
          </a:xfrm>
          <a:prstGeom prst="rect">
            <a:avLst/>
          </a:prstGeom>
          <a:noFill/>
          <a:ln/>
        </p:spPr>
        <p:txBody>
          <a:bodyPr wrap="square" lIns="0" tIns="0" rIns="0" bIns="0" rtlCol="0" anchor="ctr"/>
          <a:lstStyle/>
          <a:p>
            <a:pPr indent="0" marL="0">
              <a:buNone/>
            </a:pPr>
            <a:r>
              <a:rPr lang="en-US" sz="2000" b="1" dirty="0">
                <a:solidFill>
                  <a:srgbClr val="1B5E3A"/>
                </a:solidFill>
                <a:latin typeface="Meiryo" pitchFamily="34" charset="0"/>
                <a:ea typeface="Meiryo" pitchFamily="34" charset="-122"/>
                <a:cs typeface="Meiryo" pitchFamily="34" charset="-120"/>
              </a:rPr>
              <a:t>今日初めて知った仕事が、</a:t>
            </a:r>
            <a:endParaRPr lang="en-US" sz="2000" dirty="0"/>
          </a:p>
          <a:p>
            <a:pPr indent="0" marL="0">
              <a:buNone/>
            </a:pPr>
            <a:r>
              <a:rPr lang="en-US" sz="2000" b="1" dirty="0">
                <a:solidFill>
                  <a:srgbClr val="1B5E3A"/>
                </a:solidFill>
                <a:latin typeface="Meiryo" pitchFamily="34" charset="0"/>
                <a:ea typeface="Meiryo" pitchFamily="34" charset="-122"/>
                <a:cs typeface="Meiryo" pitchFamily="34" charset="-120"/>
              </a:rPr>
              <a:t>将来の選択肢になるかもしれません。</a:t>
            </a:r>
            <a:endParaRPr lang="en-US" sz="2000" dirty="0"/>
          </a:p>
        </p:txBody>
      </p:sp>
      <p:sp>
        <p:nvSpPr>
          <p:cNvPr id="9" name="Text 6"/>
          <p:cNvSpPr txBox="1"/>
          <p:nvPr/>
        </p:nvSpPr>
        <p:spPr>
          <a:xfrm>
            <a:off x="6400800" y="5029200"/>
            <a:ext cx="4846320" cy="731520"/>
          </a:xfrm>
          <a:prstGeom prst="rect">
            <a:avLst/>
          </a:prstGeom>
          <a:noFill/>
          <a:ln/>
        </p:spPr>
        <p:txBody>
          <a:bodyPr wrap="square" lIns="0" tIns="0" rIns="0" bIns="0" rtlCol="0" anchor="ctr"/>
          <a:lstStyle/>
          <a:p>
            <a:pPr indent="0" marL="0">
              <a:buNone/>
            </a:pPr>
            <a:r>
              <a:rPr lang="en-US" sz="2000" b="1" dirty="0">
                <a:solidFill>
                  <a:srgbClr val="F28B30"/>
                </a:solidFill>
                <a:latin typeface="Meiryo" pitchFamily="34" charset="0"/>
                <a:ea typeface="Meiryo" pitchFamily="34" charset="-122"/>
                <a:cs typeface="Meiryo" pitchFamily="34" charset="-120"/>
              </a:rPr>
              <a:t>そして、その仕事は、士別にもあります。</a:t>
            </a:r>
            <a:endParaRPr lang="en-US" sz="2000" dirty="0"/>
          </a:p>
        </p:txBody>
      </p:sp>
      <p:sp>
        <p:nvSpPr>
          <p:cNvPr id="10" name="Text 7"/>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AAAAA"/>
                </a:solidFill>
                <a:latin typeface="Meiryo" pitchFamily="34" charset="0"/>
                <a:ea typeface="Meiryo" pitchFamily="34" charset="-122"/>
                <a:cs typeface="Meiryo"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5E3A"/>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914400"/>
          </a:xfrm>
          <a:prstGeom prst="rect">
            <a:avLst/>
          </a:prstGeom>
          <a:noFill/>
          <a:ln/>
        </p:spPr>
        <p:txBody>
          <a:bodyPr wrap="square" lIns="0" tIns="0" rIns="0" bIns="0" rtlCol="0" anchor="ctr"/>
          <a:lstStyle/>
          <a:p>
            <a:pPr algn="l" indent="0" marL="0">
              <a:buNone/>
            </a:pPr>
            <a:r>
              <a:rPr lang="en-US" sz="3600" b="1" dirty="0">
                <a:solidFill>
                  <a:srgbClr val="FFFFFF"/>
                </a:solidFill>
                <a:latin typeface="Meiryo" pitchFamily="34" charset="0"/>
                <a:ea typeface="Meiryo" pitchFamily="34" charset="-122"/>
                <a:cs typeface="Meiryo" pitchFamily="34" charset="-120"/>
              </a:rPr>
              <a:t>まとめ</a:t>
            </a:r>
            <a:endParaRPr lang="en-US" sz="3600" dirty="0"/>
          </a:p>
        </p:txBody>
      </p:sp>
      <p:sp>
        <p:nvSpPr>
          <p:cNvPr id="3" name="Shape 1"/>
          <p:cNvSpPr/>
          <p:nvPr/>
        </p:nvSpPr>
        <p:spPr>
          <a:xfrm>
            <a:off x="731520" y="1554480"/>
            <a:ext cx="777240" cy="777240"/>
          </a:xfrm>
          <a:prstGeom prst="ellipse">
            <a:avLst/>
          </a:prstGeom>
          <a:solidFill>
            <a:srgbClr val="FFC933"/>
          </a:solidFill>
          <a:ln w="12700">
            <a:solidFill>
              <a:srgbClr val="FFC933"/>
            </a:solidFill>
            <a:prstDash val="solid"/>
          </a:ln>
        </p:spPr>
      </p:sp>
      <p:sp>
        <p:nvSpPr>
          <p:cNvPr id="4" name="Text 2"/>
          <p:cNvSpPr txBox="1"/>
          <p:nvPr/>
        </p:nvSpPr>
        <p:spPr>
          <a:xfrm>
            <a:off x="731520" y="1554480"/>
            <a:ext cx="777240" cy="777240"/>
          </a:xfrm>
          <a:prstGeom prst="rect">
            <a:avLst/>
          </a:prstGeom>
          <a:noFill/>
          <a:ln/>
        </p:spPr>
        <p:txBody>
          <a:bodyPr wrap="square" lIns="0" tIns="0" rIns="0" bIns="0" rtlCol="0" anchor="ctr"/>
          <a:lstStyle/>
          <a:p>
            <a:pPr algn="ctr" indent="0" marL="0">
              <a:buNone/>
            </a:pPr>
            <a:r>
              <a:rPr lang="en-US" sz="2600" b="1" dirty="0">
                <a:solidFill>
                  <a:srgbClr val="1B5E3A"/>
                </a:solidFill>
                <a:latin typeface="Meiryo" pitchFamily="34" charset="0"/>
                <a:ea typeface="Meiryo" pitchFamily="34" charset="-122"/>
                <a:cs typeface="Meiryo" pitchFamily="34" charset="-120"/>
              </a:rPr>
              <a:t>1</a:t>
            </a:r>
            <a:endParaRPr lang="en-US" sz="2600" dirty="0"/>
          </a:p>
        </p:txBody>
      </p:sp>
      <p:sp>
        <p:nvSpPr>
          <p:cNvPr id="5" name="Text 3"/>
          <p:cNvSpPr txBox="1"/>
          <p:nvPr/>
        </p:nvSpPr>
        <p:spPr>
          <a:xfrm>
            <a:off x="1783080" y="1463040"/>
            <a:ext cx="9875520" cy="960120"/>
          </a:xfrm>
          <a:prstGeom prst="rect">
            <a:avLst/>
          </a:prstGeom>
          <a:noFill/>
          <a:ln/>
        </p:spPr>
        <p:txBody>
          <a:bodyPr wrap="square" lIns="0" tIns="0" rIns="0" bIns="0" rtlCol="0" anchor="ctr"/>
          <a:lstStyle/>
          <a:p>
            <a:pPr indent="0" marL="0">
              <a:buNone/>
            </a:pPr>
            <a:r>
              <a:rPr lang="en-US" sz="2600" b="1" dirty="0">
                <a:solidFill>
                  <a:srgbClr val="FFFFFF"/>
                </a:solidFill>
                <a:latin typeface="Meiryo" pitchFamily="34" charset="0"/>
                <a:ea typeface="Meiryo" pitchFamily="34" charset="-122"/>
                <a:cs typeface="Meiryo" pitchFamily="34" charset="-120"/>
              </a:rPr>
              <a:t>ごみは、出したら終わりではない</a:t>
            </a:r>
            <a:endParaRPr lang="en-US" sz="2600" dirty="0"/>
          </a:p>
        </p:txBody>
      </p:sp>
      <p:sp>
        <p:nvSpPr>
          <p:cNvPr id="6" name="Shape 4"/>
          <p:cNvSpPr/>
          <p:nvPr/>
        </p:nvSpPr>
        <p:spPr>
          <a:xfrm>
            <a:off x="731520" y="2743200"/>
            <a:ext cx="777240" cy="777240"/>
          </a:xfrm>
          <a:prstGeom prst="ellipse">
            <a:avLst/>
          </a:prstGeom>
          <a:solidFill>
            <a:srgbClr val="FFC933"/>
          </a:solidFill>
          <a:ln w="12700">
            <a:solidFill>
              <a:srgbClr val="FFC933"/>
            </a:solidFill>
            <a:prstDash val="solid"/>
          </a:ln>
        </p:spPr>
      </p:sp>
      <p:sp>
        <p:nvSpPr>
          <p:cNvPr id="7" name="Text 5"/>
          <p:cNvSpPr txBox="1"/>
          <p:nvPr/>
        </p:nvSpPr>
        <p:spPr>
          <a:xfrm>
            <a:off x="731520" y="2743200"/>
            <a:ext cx="777240" cy="777240"/>
          </a:xfrm>
          <a:prstGeom prst="rect">
            <a:avLst/>
          </a:prstGeom>
          <a:noFill/>
          <a:ln/>
        </p:spPr>
        <p:txBody>
          <a:bodyPr wrap="square" lIns="0" tIns="0" rIns="0" bIns="0" rtlCol="0" anchor="ctr"/>
          <a:lstStyle/>
          <a:p>
            <a:pPr algn="ctr" indent="0" marL="0">
              <a:buNone/>
            </a:pPr>
            <a:r>
              <a:rPr lang="en-US" sz="2600" b="1" dirty="0">
                <a:solidFill>
                  <a:srgbClr val="1B5E3A"/>
                </a:solidFill>
                <a:latin typeface="Meiryo" pitchFamily="34" charset="0"/>
                <a:ea typeface="Meiryo" pitchFamily="34" charset="-122"/>
                <a:cs typeface="Meiryo" pitchFamily="34" charset="-120"/>
              </a:rPr>
              <a:t>2</a:t>
            </a:r>
            <a:endParaRPr lang="en-US" sz="2600" dirty="0"/>
          </a:p>
        </p:txBody>
      </p:sp>
      <p:sp>
        <p:nvSpPr>
          <p:cNvPr id="8" name="Text 6"/>
          <p:cNvSpPr txBox="1"/>
          <p:nvPr/>
        </p:nvSpPr>
        <p:spPr>
          <a:xfrm>
            <a:off x="1783080" y="2651760"/>
            <a:ext cx="9875520" cy="960120"/>
          </a:xfrm>
          <a:prstGeom prst="rect">
            <a:avLst/>
          </a:prstGeom>
          <a:noFill/>
          <a:ln/>
        </p:spPr>
        <p:txBody>
          <a:bodyPr wrap="square" lIns="0" tIns="0" rIns="0" bIns="0" rtlCol="0" anchor="ctr"/>
          <a:lstStyle/>
          <a:p>
            <a:pPr indent="0" marL="0">
              <a:buNone/>
            </a:pPr>
            <a:r>
              <a:rPr lang="en-US" sz="2600" b="1" dirty="0">
                <a:solidFill>
                  <a:srgbClr val="FFFFFF"/>
                </a:solidFill>
                <a:latin typeface="Meiryo" pitchFamily="34" charset="0"/>
                <a:ea typeface="Meiryo" pitchFamily="34" charset="-122"/>
                <a:cs typeface="Meiryo" pitchFamily="34" charset="-120"/>
              </a:rPr>
              <a:t>まちの暮らしを支える、いろいろな仕事がある</a:t>
            </a:r>
            <a:endParaRPr lang="en-US" sz="2600" dirty="0"/>
          </a:p>
        </p:txBody>
      </p:sp>
      <p:sp>
        <p:nvSpPr>
          <p:cNvPr id="9" name="Shape 7"/>
          <p:cNvSpPr/>
          <p:nvPr/>
        </p:nvSpPr>
        <p:spPr>
          <a:xfrm>
            <a:off x="731520" y="3931920"/>
            <a:ext cx="777240" cy="777240"/>
          </a:xfrm>
          <a:prstGeom prst="ellipse">
            <a:avLst/>
          </a:prstGeom>
          <a:solidFill>
            <a:srgbClr val="FFC933"/>
          </a:solidFill>
          <a:ln w="12700">
            <a:solidFill>
              <a:srgbClr val="FFC933"/>
            </a:solidFill>
            <a:prstDash val="solid"/>
          </a:ln>
        </p:spPr>
      </p:sp>
      <p:sp>
        <p:nvSpPr>
          <p:cNvPr id="10" name="Text 8"/>
          <p:cNvSpPr txBox="1"/>
          <p:nvPr/>
        </p:nvSpPr>
        <p:spPr>
          <a:xfrm>
            <a:off x="731520" y="3931920"/>
            <a:ext cx="777240" cy="777240"/>
          </a:xfrm>
          <a:prstGeom prst="rect">
            <a:avLst/>
          </a:prstGeom>
          <a:noFill/>
          <a:ln/>
        </p:spPr>
        <p:txBody>
          <a:bodyPr wrap="square" lIns="0" tIns="0" rIns="0" bIns="0" rtlCol="0" anchor="ctr"/>
          <a:lstStyle/>
          <a:p>
            <a:pPr algn="ctr" indent="0" marL="0">
              <a:buNone/>
            </a:pPr>
            <a:r>
              <a:rPr lang="en-US" sz="2600" b="1" dirty="0">
                <a:solidFill>
                  <a:srgbClr val="1B5E3A"/>
                </a:solidFill>
                <a:latin typeface="Meiryo" pitchFamily="34" charset="0"/>
                <a:ea typeface="Meiryo" pitchFamily="34" charset="-122"/>
                <a:cs typeface="Meiryo" pitchFamily="34" charset="-120"/>
              </a:rPr>
              <a:t>3</a:t>
            </a:r>
            <a:endParaRPr lang="en-US" sz="2600" dirty="0"/>
          </a:p>
        </p:txBody>
      </p:sp>
      <p:sp>
        <p:nvSpPr>
          <p:cNvPr id="11" name="Text 9"/>
          <p:cNvSpPr txBox="1"/>
          <p:nvPr/>
        </p:nvSpPr>
        <p:spPr>
          <a:xfrm>
            <a:off x="1783080" y="3840480"/>
            <a:ext cx="9875520" cy="960120"/>
          </a:xfrm>
          <a:prstGeom prst="rect">
            <a:avLst/>
          </a:prstGeom>
          <a:noFill/>
          <a:ln/>
        </p:spPr>
        <p:txBody>
          <a:bodyPr wrap="square" lIns="0" tIns="0" rIns="0" bIns="0" rtlCol="0" anchor="ctr"/>
          <a:lstStyle/>
          <a:p>
            <a:pPr indent="0" marL="0">
              <a:buNone/>
            </a:pPr>
            <a:r>
              <a:rPr lang="en-US" sz="2600" b="1" dirty="0">
                <a:solidFill>
                  <a:srgbClr val="FFFFFF"/>
                </a:solidFill>
                <a:latin typeface="Meiryo" pitchFamily="34" charset="0"/>
                <a:ea typeface="Meiryo" pitchFamily="34" charset="-122"/>
                <a:cs typeface="Meiryo" pitchFamily="34" charset="-120"/>
              </a:rPr>
              <a:t>今日知った仕事も、将来の選択肢の一つになる</a:t>
            </a:r>
            <a:endParaRPr lang="en-US" sz="2600" dirty="0"/>
          </a:p>
        </p:txBody>
      </p:sp>
      <p:sp>
        <p:nvSpPr>
          <p:cNvPr id="12" name="Shape 10"/>
          <p:cNvSpPr/>
          <p:nvPr/>
        </p:nvSpPr>
        <p:spPr>
          <a:xfrm>
            <a:off x="731520" y="5212080"/>
            <a:ext cx="10725912" cy="0"/>
          </a:xfrm>
          <a:prstGeom prst="line">
            <a:avLst/>
          </a:prstGeom>
          <a:noFill/>
          <a:ln w="12700">
            <a:solidFill>
              <a:srgbClr val="4E8A68"/>
            </a:solidFill>
            <a:prstDash val="solid"/>
          </a:ln>
        </p:spPr>
      </p:sp>
      <p:sp>
        <p:nvSpPr>
          <p:cNvPr id="13" name="Text 11"/>
          <p:cNvSpPr txBox="1"/>
          <p:nvPr/>
        </p:nvSpPr>
        <p:spPr>
          <a:xfrm>
            <a:off x="731520" y="5394960"/>
            <a:ext cx="10725912" cy="731520"/>
          </a:xfrm>
          <a:prstGeom prst="rect">
            <a:avLst/>
          </a:prstGeom>
          <a:noFill/>
          <a:ln/>
        </p:spPr>
        <p:txBody>
          <a:bodyPr wrap="square" lIns="0" tIns="0" rIns="0" bIns="0" rtlCol="0" anchor="ctr"/>
          <a:lstStyle/>
          <a:p>
            <a:pPr algn="ctr" indent="0" marL="0">
              <a:buNone/>
            </a:pPr>
            <a:r>
              <a:rPr lang="en-US" sz="2200" b="1" dirty="0">
                <a:solidFill>
                  <a:srgbClr val="FFC933"/>
                </a:solidFill>
                <a:latin typeface="Meiryo" pitchFamily="34" charset="0"/>
                <a:ea typeface="Meiryo" pitchFamily="34" charset="-122"/>
                <a:cs typeface="Meiryo" pitchFamily="34" charset="-120"/>
              </a:rPr>
              <a:t>士別のまちを、これからも一緒に支えていきましょう。</a:t>
            </a:r>
            <a:endParaRPr lang="en-US" sz="2200" dirty="0"/>
          </a:p>
        </p:txBody>
      </p:sp>
      <p:sp>
        <p:nvSpPr>
          <p:cNvPr id="14" name="Text 12"/>
          <p:cNvSpPr txBox="1"/>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AAAAA"/>
                </a:solidFill>
                <a:latin typeface="Meiryo" pitchFamily="34" charset="0"/>
                <a:ea typeface="Meiryo" pitchFamily="34" charset="-122"/>
                <a:cs typeface="Meiryo"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みんなの暮らしを支える仕事 ～ごみの向こう側を知ろう～</dc:title>
  <dc:subject>PptxGenJS Presentation</dc:subject>
  <dc:creator>PptxGenJS</dc:creator>
  <cp:lastModifiedBy>PptxGenJS</cp:lastModifiedBy>
  <cp:revision>1</cp:revision>
  <dcterms:created xsi:type="dcterms:W3CDTF">2026-08-31T02:04:01Z</dcterms:created>
  <dcterms:modified xsi:type="dcterms:W3CDTF">2026-08-31T02:04:01Z</dcterms:modified>
</cp:coreProperties>
</file>